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14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182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Welcome the audience. Introduce Agentic QA Copilot as a live demo of an evidence-backed QA assistant. Emphasize that it understands product flow, fuses project knowledge, and uses agents to generate, review, and improve test coverage - not just prompt-based generation.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Explain that normal prompt-based test generation is not enough because it does not understand product structure. Call out the three gaps: generic tests, scattered context, and weak coverage visibility. Set up the need for graph + knowledge-aware agents.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Walk through the architecture simply: the system flow graph plus knowledge sources feed Graph RAG and Vector RAG. Context Fusion merges both, then QA agents use that rich context to generate and refine outputs. Graph RAG understands structure; Vector RAG retrieves documents; together they enable evidence-backed QA.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Walk through the nine steps as the demo path. Emphasize the closed agent loop: generate, review, fix, cover, export. Highlight the breadth of outputs: tests, BDD, automation feasibility, coverage gaps, and evidence traces. Keep it light; the live demo will show these in action.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Close with the four differentiators: context-aware, evidence-backed, closed-loop coverage, and automation-ready planning. Then transition into the live demo using the focus path: System Flow -&gt; Knowledge Import -&gt; Agentic Analysis -&gt; Results -&gt; BDD Export.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lide1_hero.png"/>
          <p:cNvPicPr>
            <a:picLocks noChangeAspect="1"/>
          </p:cNvPicPr>
          <p:nvPr/>
        </p:nvPicPr>
        <p:blipFill>
          <a:blip r:embed="rId3"/>
          <a:stretch>
            <a:fillRect/>
          </a:stretch>
        </p:blipFill>
        <p:spPr>
          <a:xfrm>
            <a:off x="0" y="0"/>
            <a:ext cx="12191695" cy="6858000"/>
          </a:xfrm>
          <a:prstGeom prst="rect">
            <a:avLst/>
          </a:prstGeom>
        </p:spPr>
      </p:pic>
      <p:sp>
        <p:nvSpPr>
          <p:cNvPr id="6" name="Rectangle 5"/>
          <p:cNvSpPr/>
          <p:nvPr/>
        </p:nvSpPr>
        <p:spPr>
          <a:xfrm>
            <a:off x="0" y="0"/>
            <a:ext cx="12191695" cy="685800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417320"/>
            <a:ext cx="7315200" cy="365760"/>
          </a:xfrm>
          <a:prstGeom prst="rect">
            <a:avLst/>
          </a:prstGeom>
          <a:noFill/>
        </p:spPr>
        <p:txBody>
          <a:bodyPr wrap="none">
            <a:spAutoFit/>
          </a:bodyPr>
          <a:lstStyle/>
          <a:p>
            <a:pPr algn="l"/>
            <a:r>
              <a:rPr sz="1300" b="1">
                <a:solidFill>
                  <a:srgbClr val="2DD4BF"/>
                </a:solidFill>
                <a:latin typeface="Calibri"/>
              </a:rPr>
              <a:t>LIVE DEMO</a:t>
            </a:r>
          </a:p>
        </p:txBody>
      </p:sp>
      <p:sp>
        <p:nvSpPr>
          <p:cNvPr id="9" name="TextBox 8"/>
          <p:cNvSpPr txBox="1"/>
          <p:nvPr/>
        </p:nvSpPr>
        <p:spPr>
          <a:xfrm>
            <a:off x="822960" y="1828800"/>
            <a:ext cx="10515600" cy="1005840"/>
          </a:xfrm>
          <a:prstGeom prst="rect">
            <a:avLst/>
          </a:prstGeom>
          <a:noFill/>
        </p:spPr>
        <p:txBody>
          <a:bodyPr wrap="none">
            <a:spAutoFit/>
          </a:bodyPr>
          <a:lstStyle/>
          <a:p>
            <a:pPr algn="l"/>
            <a:r>
              <a:rPr sz="4800" b="1">
                <a:solidFill>
                  <a:srgbClr val="F8FAFC"/>
                </a:solidFill>
                <a:latin typeface="Calibri"/>
              </a:rPr>
              <a:t>Agentic QA Copilot</a:t>
            </a:r>
          </a:p>
        </p:txBody>
      </p:sp>
      <p:sp>
        <p:nvSpPr>
          <p:cNvPr id="10" name="TextBox 9"/>
          <p:cNvSpPr txBox="1"/>
          <p:nvPr/>
        </p:nvSpPr>
        <p:spPr>
          <a:xfrm>
            <a:off x="822960" y="2880360"/>
            <a:ext cx="10058400" cy="502920"/>
          </a:xfrm>
          <a:prstGeom prst="rect">
            <a:avLst/>
          </a:prstGeom>
          <a:noFill/>
        </p:spPr>
        <p:txBody>
          <a:bodyPr wrap="none">
            <a:spAutoFit/>
          </a:bodyPr>
          <a:lstStyle/>
          <a:p>
            <a:pPr algn="l"/>
            <a:r>
              <a:rPr sz="2000" b="0">
                <a:solidFill>
                  <a:srgbClr val="38BDF8"/>
                </a:solidFill>
                <a:latin typeface="Calibri"/>
              </a:rPr>
              <a:t>Graph RAG + Vector RAG + AI Agents for Evidence-Backed QA</a:t>
            </a:r>
          </a:p>
        </p:txBody>
      </p:sp>
      <p:sp>
        <p:nvSpPr>
          <p:cNvPr id="11" name="Rectangle 10"/>
          <p:cNvSpPr/>
          <p:nvPr/>
        </p:nvSpPr>
        <p:spPr>
          <a:xfrm>
            <a:off x="822960" y="3520440"/>
            <a:ext cx="2011680" cy="54864"/>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794760"/>
            <a:ext cx="9601200" cy="1097280"/>
          </a:xfrm>
          <a:prstGeom prst="rect">
            <a:avLst/>
          </a:prstGeom>
          <a:noFill/>
        </p:spPr>
        <p:txBody>
          <a:bodyPr wrap="none">
            <a:spAutoFit/>
          </a:bodyPr>
          <a:lstStyle/>
          <a:p>
            <a:pPr algn="l"/>
            <a:r>
              <a:rPr sz="1600" b="0">
                <a:solidFill>
                  <a:srgbClr val="CBD5E1"/>
                </a:solidFill>
                <a:latin typeface="Calibri"/>
              </a:rPr>
              <a:t>A QA assistant that understands the software flow, reads project knowledge,</a:t>
            </a:r>
          </a:p>
          <a:p>
            <a:pPr algn="l">
              <a:spcBef>
                <a:spcPts val="400"/>
              </a:spcBef>
              <a:spcAft>
                <a:spcPts val="0"/>
              </a:spcAft>
            </a:pPr>
            <a:r>
              <a:rPr sz="1600" b="0">
                <a:solidFill>
                  <a:srgbClr val="CBD5E1"/>
                </a:solidFill>
                <a:latin typeface="Calibri"/>
              </a:rPr>
              <a:t>generates test coverage, reviews gaps, and improves the suite automatically.</a:t>
            </a:r>
          </a:p>
        </p:txBody>
      </p:sp>
      <p:sp>
        <p:nvSpPr>
          <p:cNvPr id="13" name="Rounded Rectangle 12"/>
          <p:cNvSpPr/>
          <p:nvPr/>
        </p:nvSpPr>
        <p:spPr>
          <a:xfrm>
            <a:off x="822960" y="5806440"/>
            <a:ext cx="2194560" cy="384048"/>
          </a:xfrm>
          <a:prstGeom prst="roundRect">
            <a:avLst>
              <a:gd name="adj" fmla="val 50000"/>
            </a:avLst>
          </a:prstGeom>
          <a:solidFill>
            <a:srgbClr val="121A2B"/>
          </a:solidFill>
          <a:ln w="15875">
            <a:solidFill>
              <a:srgbClr val="121A2B"/>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2DD4BF"/>
                </a:solidFill>
                <a:latin typeface="Calibri"/>
              </a:rPr>
              <a:t>System Flow Graph</a:t>
            </a:r>
          </a:p>
        </p:txBody>
      </p:sp>
      <p:sp>
        <p:nvSpPr>
          <p:cNvPr id="14" name="Rounded Rectangle 13"/>
          <p:cNvSpPr/>
          <p:nvPr/>
        </p:nvSpPr>
        <p:spPr>
          <a:xfrm>
            <a:off x="3200400" y="5806440"/>
            <a:ext cx="2194560" cy="384048"/>
          </a:xfrm>
          <a:prstGeom prst="roundRect">
            <a:avLst>
              <a:gd name="adj" fmla="val 50000"/>
            </a:avLst>
          </a:prstGeom>
          <a:solidFill>
            <a:srgbClr val="121A2B"/>
          </a:solidFill>
          <a:ln w="15875">
            <a:solidFill>
              <a:srgbClr val="121A2B"/>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38BDF8"/>
                </a:solidFill>
                <a:latin typeface="Calibri"/>
              </a:rPr>
              <a:t>Knowledge Fusion</a:t>
            </a:r>
          </a:p>
        </p:txBody>
      </p:sp>
      <p:sp>
        <p:nvSpPr>
          <p:cNvPr id="15" name="Rounded Rectangle 14"/>
          <p:cNvSpPr/>
          <p:nvPr/>
        </p:nvSpPr>
        <p:spPr>
          <a:xfrm>
            <a:off x="5577840" y="5806440"/>
            <a:ext cx="2194560" cy="384048"/>
          </a:xfrm>
          <a:prstGeom prst="roundRect">
            <a:avLst>
              <a:gd name="adj" fmla="val 50000"/>
            </a:avLst>
          </a:prstGeom>
          <a:solidFill>
            <a:srgbClr val="121A2B"/>
          </a:solidFill>
          <a:ln w="15875">
            <a:solidFill>
              <a:srgbClr val="121A2B"/>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A78BFA"/>
                </a:solidFill>
                <a:latin typeface="Calibri"/>
              </a:rPr>
              <a:t>Agentic Coverage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lide2_hero.png"/>
          <p:cNvPicPr>
            <a:picLocks noChangeAspect="1"/>
          </p:cNvPicPr>
          <p:nvPr/>
        </p:nvPicPr>
        <p:blipFill>
          <a:blip r:embed="rId3"/>
          <a:stretch>
            <a:fillRect/>
          </a:stretch>
        </p:blipFill>
        <p:spPr>
          <a:xfrm>
            <a:off x="7498079" y="1097280"/>
            <a:ext cx="4297680" cy="5029200"/>
          </a:xfrm>
          <a:prstGeom prst="rect">
            <a:avLst/>
          </a:prstGeom>
        </p:spPr>
      </p:pic>
      <p:sp>
        <p:nvSpPr>
          <p:cNvPr id="6" name="Rectangle 5"/>
          <p:cNvSpPr/>
          <p:nvPr/>
        </p:nvSpPr>
        <p:spPr>
          <a:xfrm>
            <a:off x="7498079" y="1097280"/>
            <a:ext cx="4297680" cy="502920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498079" y="1097280"/>
            <a:ext cx="4297680" cy="5029200"/>
          </a:xfrm>
          <a:prstGeom prst="roundRect">
            <a:avLst>
              <a:gd name="adj" fmla="val 4000"/>
            </a:avLst>
          </a:prstGeom>
          <a:noFill/>
          <a:ln w="19050">
            <a:solidFill>
              <a:srgbClr val="334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411480"/>
            <a:ext cx="10972800" cy="640080"/>
          </a:xfrm>
          <a:prstGeom prst="rect">
            <a:avLst/>
          </a:prstGeom>
          <a:noFill/>
        </p:spPr>
        <p:txBody>
          <a:bodyPr wrap="none">
            <a:spAutoFit/>
          </a:bodyPr>
          <a:lstStyle/>
          <a:p>
            <a:pPr algn="l"/>
            <a:r>
              <a:rPr sz="2800" b="1">
                <a:solidFill>
                  <a:srgbClr val="F8FAFC"/>
                </a:solidFill>
                <a:latin typeface="Calibri"/>
              </a:rPr>
              <a:t>Why Traditional AI Test Generation Falls Short</a:t>
            </a:r>
          </a:p>
        </p:txBody>
      </p:sp>
      <p:sp>
        <p:nvSpPr>
          <p:cNvPr id="9" name="Rectangle 8"/>
          <p:cNvSpPr/>
          <p:nvPr/>
        </p:nvSpPr>
        <p:spPr>
          <a:xfrm>
            <a:off x="640080" y="1051560"/>
            <a:ext cx="16459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0080" y="1417320"/>
            <a:ext cx="649224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1417320"/>
            <a:ext cx="73152" cy="13716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1673352"/>
            <a:ext cx="731520" cy="411480"/>
          </a:xfrm>
          <a:prstGeom prst="rect">
            <a:avLst/>
          </a:prstGeom>
          <a:noFill/>
        </p:spPr>
        <p:txBody>
          <a:bodyPr wrap="none">
            <a:spAutoFit/>
          </a:bodyPr>
          <a:lstStyle/>
          <a:p>
            <a:pPr algn="l"/>
            <a:r>
              <a:rPr sz="2200" b="1">
                <a:solidFill>
                  <a:srgbClr val="F87171"/>
                </a:solidFill>
                <a:latin typeface="Calibri"/>
              </a:rPr>
              <a:t>01</a:t>
            </a:r>
          </a:p>
        </p:txBody>
      </p:sp>
      <p:sp>
        <p:nvSpPr>
          <p:cNvPr id="13" name="TextBox 12"/>
          <p:cNvSpPr txBox="1"/>
          <p:nvPr/>
        </p:nvSpPr>
        <p:spPr>
          <a:xfrm>
            <a:off x="1645920" y="1673352"/>
            <a:ext cx="5120640" cy="365760"/>
          </a:xfrm>
          <a:prstGeom prst="rect">
            <a:avLst/>
          </a:prstGeom>
          <a:noFill/>
        </p:spPr>
        <p:txBody>
          <a:bodyPr wrap="none">
            <a:spAutoFit/>
          </a:bodyPr>
          <a:lstStyle/>
          <a:p>
            <a:pPr algn="l"/>
            <a:r>
              <a:rPr sz="1800" b="1">
                <a:solidFill>
                  <a:srgbClr val="F8FAFC"/>
                </a:solidFill>
                <a:latin typeface="Calibri"/>
              </a:rPr>
              <a:t>Generic test cases</a:t>
            </a:r>
          </a:p>
        </p:txBody>
      </p:sp>
      <p:sp>
        <p:nvSpPr>
          <p:cNvPr id="14" name="TextBox 13"/>
          <p:cNvSpPr txBox="1"/>
          <p:nvPr/>
        </p:nvSpPr>
        <p:spPr>
          <a:xfrm>
            <a:off x="1645920" y="2075688"/>
            <a:ext cx="4890506" cy="492443"/>
          </a:xfrm>
          <a:prstGeom prst="rect">
            <a:avLst/>
          </a:prstGeom>
          <a:noFill/>
        </p:spPr>
        <p:txBody>
          <a:bodyPr wrap="none">
            <a:spAutoFit/>
          </a:bodyPr>
          <a:lstStyle/>
          <a:p>
            <a:pPr algn="l"/>
            <a:r>
              <a:rPr sz="1300" b="0" dirty="0">
                <a:solidFill>
                  <a:srgbClr val="94A3B8"/>
                </a:solidFill>
                <a:latin typeface="Calibri"/>
              </a:rPr>
              <a:t>AI tools often generate broad tests without understanding the actual </a:t>
            </a:r>
            <a:endParaRPr lang="en-IN" sz="1300" b="0" dirty="0">
              <a:solidFill>
                <a:srgbClr val="94A3B8"/>
              </a:solidFill>
              <a:latin typeface="Calibri"/>
            </a:endParaRPr>
          </a:p>
          <a:p>
            <a:pPr algn="l"/>
            <a:r>
              <a:rPr sz="1300" b="0" dirty="0">
                <a:solidFill>
                  <a:srgbClr val="94A3B8"/>
                </a:solidFill>
                <a:latin typeface="Calibri"/>
              </a:rPr>
              <a:t>product flow.</a:t>
            </a:r>
          </a:p>
        </p:txBody>
      </p:sp>
      <p:sp>
        <p:nvSpPr>
          <p:cNvPr id="15" name="Rounded Rectangle 14"/>
          <p:cNvSpPr/>
          <p:nvPr/>
        </p:nvSpPr>
        <p:spPr>
          <a:xfrm>
            <a:off x="640080" y="2971800"/>
            <a:ext cx="649224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2971800"/>
            <a:ext cx="73152" cy="1371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227832"/>
            <a:ext cx="731520" cy="411480"/>
          </a:xfrm>
          <a:prstGeom prst="rect">
            <a:avLst/>
          </a:prstGeom>
          <a:noFill/>
        </p:spPr>
        <p:txBody>
          <a:bodyPr wrap="none">
            <a:spAutoFit/>
          </a:bodyPr>
          <a:lstStyle/>
          <a:p>
            <a:pPr algn="l"/>
            <a:r>
              <a:rPr sz="2200" b="1">
                <a:solidFill>
                  <a:srgbClr val="F59E0B"/>
                </a:solidFill>
                <a:latin typeface="Calibri"/>
              </a:rPr>
              <a:t>02</a:t>
            </a:r>
          </a:p>
        </p:txBody>
      </p:sp>
      <p:sp>
        <p:nvSpPr>
          <p:cNvPr id="18" name="TextBox 17"/>
          <p:cNvSpPr txBox="1"/>
          <p:nvPr/>
        </p:nvSpPr>
        <p:spPr>
          <a:xfrm>
            <a:off x="1645920" y="3227832"/>
            <a:ext cx="5120640" cy="365760"/>
          </a:xfrm>
          <a:prstGeom prst="rect">
            <a:avLst/>
          </a:prstGeom>
          <a:noFill/>
        </p:spPr>
        <p:txBody>
          <a:bodyPr wrap="none">
            <a:spAutoFit/>
          </a:bodyPr>
          <a:lstStyle/>
          <a:p>
            <a:pPr algn="l"/>
            <a:r>
              <a:rPr sz="1800" b="1">
                <a:solidFill>
                  <a:srgbClr val="F8FAFC"/>
                </a:solidFill>
                <a:latin typeface="Calibri"/>
              </a:rPr>
              <a:t>Missing business context</a:t>
            </a:r>
          </a:p>
        </p:txBody>
      </p:sp>
      <p:sp>
        <p:nvSpPr>
          <p:cNvPr id="19" name="TextBox 18"/>
          <p:cNvSpPr txBox="1"/>
          <p:nvPr/>
        </p:nvSpPr>
        <p:spPr>
          <a:xfrm>
            <a:off x="1645920" y="3630168"/>
            <a:ext cx="5397760" cy="492443"/>
          </a:xfrm>
          <a:prstGeom prst="rect">
            <a:avLst/>
          </a:prstGeom>
          <a:noFill/>
        </p:spPr>
        <p:txBody>
          <a:bodyPr wrap="none">
            <a:spAutoFit/>
          </a:bodyPr>
          <a:lstStyle/>
          <a:p>
            <a:pPr algn="l"/>
            <a:r>
              <a:rPr sz="1300" b="0" dirty="0">
                <a:solidFill>
                  <a:srgbClr val="94A3B8"/>
                </a:solidFill>
                <a:latin typeface="Calibri"/>
              </a:rPr>
              <a:t>Requirements, bugs, risks, and existing tests are scattered across documents </a:t>
            </a:r>
            <a:endParaRPr lang="en-IN" sz="1300" b="0" dirty="0">
              <a:solidFill>
                <a:srgbClr val="94A3B8"/>
              </a:solidFill>
              <a:latin typeface="Calibri"/>
            </a:endParaRPr>
          </a:p>
          <a:p>
            <a:pPr algn="l"/>
            <a:r>
              <a:rPr sz="1300" b="0" dirty="0">
                <a:solidFill>
                  <a:srgbClr val="94A3B8"/>
                </a:solidFill>
                <a:latin typeface="Calibri"/>
              </a:rPr>
              <a:t>and tools.</a:t>
            </a:r>
          </a:p>
        </p:txBody>
      </p:sp>
      <p:sp>
        <p:nvSpPr>
          <p:cNvPr id="20" name="Rounded Rectangle 19"/>
          <p:cNvSpPr/>
          <p:nvPr/>
        </p:nvSpPr>
        <p:spPr>
          <a:xfrm>
            <a:off x="640080" y="4526280"/>
            <a:ext cx="649224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4526280"/>
            <a:ext cx="73152" cy="137160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782312"/>
            <a:ext cx="731520" cy="411480"/>
          </a:xfrm>
          <a:prstGeom prst="rect">
            <a:avLst/>
          </a:prstGeom>
          <a:noFill/>
        </p:spPr>
        <p:txBody>
          <a:bodyPr wrap="none">
            <a:spAutoFit/>
          </a:bodyPr>
          <a:lstStyle/>
          <a:p>
            <a:pPr algn="l"/>
            <a:r>
              <a:rPr sz="2200" b="1">
                <a:solidFill>
                  <a:srgbClr val="F5C542"/>
                </a:solidFill>
                <a:latin typeface="Calibri"/>
              </a:rPr>
              <a:t>03</a:t>
            </a:r>
          </a:p>
        </p:txBody>
      </p:sp>
      <p:sp>
        <p:nvSpPr>
          <p:cNvPr id="23" name="TextBox 22"/>
          <p:cNvSpPr txBox="1"/>
          <p:nvPr/>
        </p:nvSpPr>
        <p:spPr>
          <a:xfrm>
            <a:off x="1645920" y="4782312"/>
            <a:ext cx="5120640" cy="365760"/>
          </a:xfrm>
          <a:prstGeom prst="rect">
            <a:avLst/>
          </a:prstGeom>
          <a:noFill/>
        </p:spPr>
        <p:txBody>
          <a:bodyPr wrap="none">
            <a:spAutoFit/>
          </a:bodyPr>
          <a:lstStyle/>
          <a:p>
            <a:pPr algn="l"/>
            <a:r>
              <a:rPr sz="1800" b="1">
                <a:solidFill>
                  <a:srgbClr val="F8FAFC"/>
                </a:solidFill>
                <a:latin typeface="Calibri"/>
              </a:rPr>
              <a:t>Weak coverage visibility</a:t>
            </a:r>
          </a:p>
        </p:txBody>
      </p:sp>
      <p:sp>
        <p:nvSpPr>
          <p:cNvPr id="24" name="TextBox 23"/>
          <p:cNvSpPr txBox="1"/>
          <p:nvPr/>
        </p:nvSpPr>
        <p:spPr>
          <a:xfrm>
            <a:off x="1645920" y="5184648"/>
            <a:ext cx="5349991" cy="492443"/>
          </a:xfrm>
          <a:prstGeom prst="rect">
            <a:avLst/>
          </a:prstGeom>
          <a:noFill/>
        </p:spPr>
        <p:txBody>
          <a:bodyPr wrap="none">
            <a:spAutoFit/>
          </a:bodyPr>
          <a:lstStyle/>
          <a:p>
            <a:pPr algn="l"/>
            <a:r>
              <a:rPr sz="1300" b="0" dirty="0">
                <a:solidFill>
                  <a:srgbClr val="94A3B8"/>
                </a:solidFill>
                <a:latin typeface="Calibri"/>
              </a:rPr>
              <a:t>QA teams struggle to see what is covered, what is missing, and what should </a:t>
            </a:r>
            <a:endParaRPr lang="en-IN" sz="1300" b="0" dirty="0">
              <a:solidFill>
                <a:srgbClr val="94A3B8"/>
              </a:solidFill>
              <a:latin typeface="Calibri"/>
            </a:endParaRPr>
          </a:p>
          <a:p>
            <a:pPr algn="l"/>
            <a:r>
              <a:rPr sz="1300" b="0" dirty="0">
                <a:solidFill>
                  <a:srgbClr val="94A3B8"/>
                </a:solidFill>
                <a:latin typeface="Calibri"/>
              </a:rPr>
              <a:t>be tested next.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320040"/>
            <a:ext cx="10972800" cy="548640"/>
          </a:xfrm>
          <a:prstGeom prst="rect">
            <a:avLst/>
          </a:prstGeom>
          <a:noFill/>
        </p:spPr>
        <p:txBody>
          <a:bodyPr wrap="none">
            <a:spAutoFit/>
          </a:bodyPr>
          <a:lstStyle/>
          <a:p>
            <a:pPr algn="l"/>
            <a:r>
              <a:rPr sz="2800" b="1">
                <a:solidFill>
                  <a:srgbClr val="F8FAFC"/>
                </a:solidFill>
                <a:latin typeface="Calibri"/>
              </a:rPr>
              <a:t>How Our QA Copilot Understands the Product</a:t>
            </a:r>
          </a:p>
        </p:txBody>
      </p:sp>
      <p:sp>
        <p:nvSpPr>
          <p:cNvPr id="6" name="Rectangle 5"/>
          <p:cNvSpPr/>
          <p:nvPr/>
        </p:nvSpPr>
        <p:spPr>
          <a:xfrm>
            <a:off x="640080" y="914400"/>
            <a:ext cx="1645920" cy="457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3_hero.png"/>
          <p:cNvPicPr>
            <a:picLocks noChangeAspect="1"/>
          </p:cNvPicPr>
          <p:nvPr/>
        </p:nvPicPr>
        <p:blipFill>
          <a:blip r:embed="rId3"/>
          <a:stretch>
            <a:fillRect/>
          </a:stretch>
        </p:blipFill>
        <p:spPr>
          <a:xfrm>
            <a:off x="7680960" y="1143000"/>
            <a:ext cx="4114800" cy="2926080"/>
          </a:xfrm>
          <a:prstGeom prst="rect">
            <a:avLst/>
          </a:prstGeom>
        </p:spPr>
      </p:pic>
      <p:sp>
        <p:nvSpPr>
          <p:cNvPr id="8" name="Rectangle 7"/>
          <p:cNvSpPr/>
          <p:nvPr/>
        </p:nvSpPr>
        <p:spPr>
          <a:xfrm>
            <a:off x="7680960" y="1143000"/>
            <a:ext cx="4114800" cy="292608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234440"/>
            <a:ext cx="2103120" cy="640080"/>
          </a:xfrm>
          <a:prstGeom prst="roundRect">
            <a:avLst>
              <a:gd name="adj" fmla="val 8000"/>
            </a:avLst>
          </a:prstGeom>
          <a:solidFill>
            <a:srgbClr val="1A2438"/>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200" b="1">
                <a:solidFill>
                  <a:srgbClr val="2DD4BF"/>
                </a:solidFill>
                <a:latin typeface="Calibri"/>
              </a:rPr>
              <a:t>System Flow Graph</a:t>
            </a:r>
          </a:p>
        </p:txBody>
      </p:sp>
      <p:sp>
        <p:nvSpPr>
          <p:cNvPr id="10" name="Rounded Rectangle 9"/>
          <p:cNvSpPr/>
          <p:nvPr/>
        </p:nvSpPr>
        <p:spPr>
          <a:xfrm>
            <a:off x="2880360" y="1234440"/>
            <a:ext cx="2103120" cy="640080"/>
          </a:xfrm>
          <a:prstGeom prst="roundRect">
            <a:avLst>
              <a:gd name="adj" fmla="val 8000"/>
            </a:avLst>
          </a:prstGeom>
          <a:solidFill>
            <a:srgbClr val="1A2438"/>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200" b="1">
                <a:solidFill>
                  <a:srgbClr val="38BDF8"/>
                </a:solidFill>
                <a:latin typeface="Calibri"/>
              </a:rPr>
              <a:t>Knowledge Base</a:t>
            </a:r>
          </a:p>
        </p:txBody>
      </p:sp>
      <p:sp>
        <p:nvSpPr>
          <p:cNvPr id="11" name="Rounded Rectangle 10"/>
          <p:cNvSpPr/>
          <p:nvPr/>
        </p:nvSpPr>
        <p:spPr>
          <a:xfrm>
            <a:off x="5120640" y="1234440"/>
            <a:ext cx="2103120" cy="640080"/>
          </a:xfrm>
          <a:prstGeom prst="roundRect">
            <a:avLst>
              <a:gd name="adj" fmla="val 8000"/>
            </a:avLst>
          </a:prstGeom>
          <a:solidFill>
            <a:srgbClr val="1A2438"/>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200" b="1">
                <a:solidFill>
                  <a:srgbClr val="A78BFA"/>
                </a:solidFill>
                <a:latin typeface="Calibri"/>
              </a:rPr>
              <a:t>Jira / Confluence</a:t>
            </a:r>
          </a:p>
        </p:txBody>
      </p:sp>
      <p:sp>
        <p:nvSpPr>
          <p:cNvPr id="12" name="TextBox 11"/>
          <p:cNvSpPr txBox="1"/>
          <p:nvPr/>
        </p:nvSpPr>
        <p:spPr>
          <a:xfrm>
            <a:off x="3291840" y="1920240"/>
            <a:ext cx="1828800" cy="320040"/>
          </a:xfrm>
          <a:prstGeom prst="rect">
            <a:avLst/>
          </a:prstGeom>
          <a:noFill/>
        </p:spPr>
        <p:txBody>
          <a:bodyPr wrap="none">
            <a:spAutoFit/>
          </a:bodyPr>
          <a:lstStyle/>
          <a:p>
            <a:pPr algn="ctr"/>
            <a:r>
              <a:rPr sz="1400" b="0">
                <a:solidFill>
                  <a:srgbClr val="94A3B8"/>
                </a:solidFill>
                <a:latin typeface="Calibri"/>
              </a:rPr>
              <a:t>v</a:t>
            </a:r>
          </a:p>
        </p:txBody>
      </p:sp>
      <p:sp>
        <p:nvSpPr>
          <p:cNvPr id="13" name="Rounded Rectangle 12"/>
          <p:cNvSpPr/>
          <p:nvPr/>
        </p:nvSpPr>
        <p:spPr>
          <a:xfrm>
            <a:off x="1463040" y="2240280"/>
            <a:ext cx="5303520" cy="640080"/>
          </a:xfrm>
          <a:prstGeom prst="roundRect">
            <a:avLst>
              <a:gd name="adj" fmla="val 8000"/>
            </a:avLst>
          </a:prstGeom>
          <a:solidFill>
            <a:srgbClr val="122A3A"/>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600" b="1">
                <a:solidFill>
                  <a:srgbClr val="2DD4BF"/>
                </a:solidFill>
                <a:latin typeface="Calibri"/>
              </a:rPr>
              <a:t>Graph RAG  +  Vector RAG</a:t>
            </a:r>
          </a:p>
        </p:txBody>
      </p:sp>
      <p:sp>
        <p:nvSpPr>
          <p:cNvPr id="14" name="TextBox 13"/>
          <p:cNvSpPr txBox="1"/>
          <p:nvPr/>
        </p:nvSpPr>
        <p:spPr>
          <a:xfrm>
            <a:off x="3291840" y="2926080"/>
            <a:ext cx="1828800" cy="320040"/>
          </a:xfrm>
          <a:prstGeom prst="rect">
            <a:avLst/>
          </a:prstGeom>
          <a:noFill/>
        </p:spPr>
        <p:txBody>
          <a:bodyPr wrap="none">
            <a:spAutoFit/>
          </a:bodyPr>
          <a:lstStyle/>
          <a:p>
            <a:pPr algn="ctr"/>
            <a:r>
              <a:rPr sz="1400" b="0">
                <a:solidFill>
                  <a:srgbClr val="94A3B8"/>
                </a:solidFill>
                <a:latin typeface="Calibri"/>
              </a:rPr>
              <a:t>v</a:t>
            </a:r>
          </a:p>
        </p:txBody>
      </p:sp>
      <p:sp>
        <p:nvSpPr>
          <p:cNvPr id="15" name="Rounded Rectangle 14"/>
          <p:cNvSpPr/>
          <p:nvPr/>
        </p:nvSpPr>
        <p:spPr>
          <a:xfrm>
            <a:off x="2011680" y="3246120"/>
            <a:ext cx="4206240" cy="640080"/>
          </a:xfrm>
          <a:prstGeom prst="roundRect">
            <a:avLst>
              <a:gd name="adj" fmla="val 8000"/>
            </a:avLst>
          </a:prstGeom>
          <a:solidFill>
            <a:srgbClr val="1A1835"/>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600" b="1">
                <a:solidFill>
                  <a:srgbClr val="A78BFA"/>
                </a:solidFill>
                <a:latin typeface="Calibri"/>
              </a:rPr>
              <a:t>Context Fusion</a:t>
            </a:r>
          </a:p>
        </p:txBody>
      </p:sp>
      <p:sp>
        <p:nvSpPr>
          <p:cNvPr id="16" name="TextBox 15"/>
          <p:cNvSpPr txBox="1"/>
          <p:nvPr/>
        </p:nvSpPr>
        <p:spPr>
          <a:xfrm>
            <a:off x="3291840" y="3931920"/>
            <a:ext cx="1828800" cy="320040"/>
          </a:xfrm>
          <a:prstGeom prst="rect">
            <a:avLst/>
          </a:prstGeom>
          <a:noFill/>
        </p:spPr>
        <p:txBody>
          <a:bodyPr wrap="none">
            <a:spAutoFit/>
          </a:bodyPr>
          <a:lstStyle/>
          <a:p>
            <a:pPr algn="ctr"/>
            <a:r>
              <a:rPr sz="1400" b="0">
                <a:solidFill>
                  <a:srgbClr val="94A3B8"/>
                </a:solidFill>
                <a:latin typeface="Calibri"/>
              </a:rPr>
              <a:t>v</a:t>
            </a:r>
          </a:p>
        </p:txBody>
      </p:sp>
      <p:sp>
        <p:nvSpPr>
          <p:cNvPr id="17" name="Rounded Rectangle 16"/>
          <p:cNvSpPr/>
          <p:nvPr/>
        </p:nvSpPr>
        <p:spPr>
          <a:xfrm>
            <a:off x="2377440" y="4251960"/>
            <a:ext cx="3474720" cy="640080"/>
          </a:xfrm>
          <a:prstGeom prst="roundRect">
            <a:avLst>
              <a:gd name="adj" fmla="val 8000"/>
            </a:avLst>
          </a:prstGeom>
          <a:solidFill>
            <a:srgbClr val="1A2A1F"/>
          </a:solidFill>
          <a:ln w="19050">
            <a:solidFill>
              <a:srgbClr val="F5C542"/>
            </a:solidFill>
          </a:ln>
        </p:spPr>
        <p:style>
          <a:lnRef idx="1">
            <a:schemeClr val="accent1"/>
          </a:lnRef>
          <a:fillRef idx="3">
            <a:schemeClr val="accent1"/>
          </a:fillRef>
          <a:effectRef idx="2">
            <a:schemeClr val="accent1"/>
          </a:effectRef>
          <a:fontRef idx="minor">
            <a:schemeClr val="lt1"/>
          </a:fontRef>
        </p:style>
        <p:txBody>
          <a:bodyPr tIns="177800" rtlCol="0" anchor="ctr"/>
          <a:lstStyle/>
          <a:p>
            <a:pPr algn="ctr"/>
            <a:r>
              <a:rPr sz="1600" b="1">
                <a:solidFill>
                  <a:srgbClr val="F5C542"/>
                </a:solidFill>
                <a:latin typeface="Calibri"/>
              </a:rPr>
              <a:t>QA Agents</a:t>
            </a:r>
          </a:p>
        </p:txBody>
      </p:sp>
      <p:sp>
        <p:nvSpPr>
          <p:cNvPr id="18" name="Oval 17"/>
          <p:cNvSpPr/>
          <p:nvPr/>
        </p:nvSpPr>
        <p:spPr>
          <a:xfrm>
            <a:off x="640080" y="5230368"/>
            <a:ext cx="164592" cy="16459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5120640"/>
            <a:ext cx="5029200" cy="274320"/>
          </a:xfrm>
          <a:prstGeom prst="rect">
            <a:avLst/>
          </a:prstGeom>
          <a:noFill/>
        </p:spPr>
        <p:txBody>
          <a:bodyPr wrap="none">
            <a:spAutoFit/>
          </a:bodyPr>
          <a:lstStyle/>
          <a:p>
            <a:pPr algn="l"/>
            <a:r>
              <a:rPr sz="1300" b="1">
                <a:solidFill>
                  <a:srgbClr val="F8FAFC"/>
                </a:solidFill>
                <a:latin typeface="Calibri"/>
              </a:rPr>
              <a:t>Graph RAG</a:t>
            </a:r>
          </a:p>
          <a:p>
            <a:pPr algn="l">
              <a:spcBef>
                <a:spcPts val="0"/>
              </a:spcBef>
              <a:spcAft>
                <a:spcPts val="0"/>
              </a:spcAft>
            </a:pPr>
            <a:r>
              <a:rPr sz="1100" b="0">
                <a:solidFill>
                  <a:srgbClr val="94A3B8"/>
                </a:solidFill>
                <a:latin typeface="Calibri"/>
              </a:rPr>
              <a:t>Workflows, branches, dependencies, failure paths</a:t>
            </a:r>
          </a:p>
        </p:txBody>
      </p:sp>
      <p:sp>
        <p:nvSpPr>
          <p:cNvPr id="20" name="Oval 19"/>
          <p:cNvSpPr/>
          <p:nvPr/>
        </p:nvSpPr>
        <p:spPr>
          <a:xfrm>
            <a:off x="6309360" y="5230368"/>
            <a:ext cx="164592" cy="164592"/>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5120640"/>
            <a:ext cx="5029200" cy="274320"/>
          </a:xfrm>
          <a:prstGeom prst="rect">
            <a:avLst/>
          </a:prstGeom>
          <a:noFill/>
        </p:spPr>
        <p:txBody>
          <a:bodyPr wrap="none">
            <a:spAutoFit/>
          </a:bodyPr>
          <a:lstStyle/>
          <a:p>
            <a:pPr algn="l"/>
            <a:r>
              <a:rPr sz="1300" b="1">
                <a:solidFill>
                  <a:srgbClr val="F8FAFC"/>
                </a:solidFill>
                <a:latin typeface="Calibri"/>
              </a:rPr>
              <a:t>Vector RAG</a:t>
            </a:r>
          </a:p>
          <a:p>
            <a:pPr algn="l">
              <a:spcBef>
                <a:spcPts val="0"/>
              </a:spcBef>
              <a:spcAft>
                <a:spcPts val="0"/>
              </a:spcAft>
            </a:pPr>
            <a:r>
              <a:rPr sz="1100" b="0">
                <a:solidFill>
                  <a:srgbClr val="94A3B8"/>
                </a:solidFill>
                <a:latin typeface="Calibri"/>
              </a:rPr>
              <a:t>Requirements, bugs, risks, and documents</a:t>
            </a:r>
          </a:p>
        </p:txBody>
      </p:sp>
      <p:sp>
        <p:nvSpPr>
          <p:cNvPr id="22" name="Oval 21"/>
          <p:cNvSpPr/>
          <p:nvPr/>
        </p:nvSpPr>
        <p:spPr>
          <a:xfrm>
            <a:off x="640080" y="5916168"/>
            <a:ext cx="164592" cy="164592"/>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5806440"/>
            <a:ext cx="5029200" cy="274320"/>
          </a:xfrm>
          <a:prstGeom prst="rect">
            <a:avLst/>
          </a:prstGeom>
          <a:noFill/>
        </p:spPr>
        <p:txBody>
          <a:bodyPr wrap="none">
            <a:spAutoFit/>
          </a:bodyPr>
          <a:lstStyle/>
          <a:p>
            <a:pPr algn="l"/>
            <a:r>
              <a:rPr sz="1300" b="1">
                <a:solidFill>
                  <a:srgbClr val="F8FAFC"/>
                </a:solidFill>
                <a:latin typeface="Calibri"/>
              </a:rPr>
              <a:t>Context Fusion</a:t>
            </a:r>
          </a:p>
          <a:p>
            <a:pPr algn="l">
              <a:spcBef>
                <a:spcPts val="0"/>
              </a:spcBef>
              <a:spcAft>
                <a:spcPts val="0"/>
              </a:spcAft>
            </a:pPr>
            <a:r>
              <a:rPr sz="1100" b="0">
                <a:solidFill>
                  <a:srgbClr val="94A3B8"/>
                </a:solidFill>
                <a:latin typeface="Calibri"/>
              </a:rPr>
              <a:t>Combines both into high-quality prompt context</a:t>
            </a:r>
          </a:p>
        </p:txBody>
      </p:sp>
      <p:sp>
        <p:nvSpPr>
          <p:cNvPr id="24" name="Oval 23"/>
          <p:cNvSpPr/>
          <p:nvPr/>
        </p:nvSpPr>
        <p:spPr>
          <a:xfrm>
            <a:off x="6309360" y="5916168"/>
            <a:ext cx="164592" cy="164592"/>
          </a:xfrm>
          <a:prstGeom prst="ellipse">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29400" y="5806440"/>
            <a:ext cx="5029200" cy="274320"/>
          </a:xfrm>
          <a:prstGeom prst="rect">
            <a:avLst/>
          </a:prstGeom>
          <a:noFill/>
        </p:spPr>
        <p:txBody>
          <a:bodyPr wrap="none">
            <a:spAutoFit/>
          </a:bodyPr>
          <a:lstStyle/>
          <a:p>
            <a:pPr algn="l"/>
            <a:r>
              <a:rPr sz="1300" b="1">
                <a:solidFill>
                  <a:srgbClr val="F8FAFC"/>
                </a:solidFill>
                <a:latin typeface="Calibri"/>
              </a:rPr>
              <a:t>QA Agents</a:t>
            </a:r>
          </a:p>
          <a:p>
            <a:pPr algn="l">
              <a:spcBef>
                <a:spcPts val="0"/>
              </a:spcBef>
              <a:spcAft>
                <a:spcPts val="0"/>
              </a:spcAft>
            </a:pPr>
            <a:r>
              <a:rPr sz="1100" b="0">
                <a:solidFill>
                  <a:srgbClr val="94A3B8"/>
                </a:solidFill>
                <a:latin typeface="Calibri"/>
              </a:rPr>
              <a:t>Generate, review, and refine QA outputs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74320"/>
            <a:ext cx="10972800" cy="502920"/>
          </a:xfrm>
          <a:prstGeom prst="rect">
            <a:avLst/>
          </a:prstGeom>
          <a:noFill/>
        </p:spPr>
        <p:txBody>
          <a:bodyPr wrap="none">
            <a:spAutoFit/>
          </a:bodyPr>
          <a:lstStyle/>
          <a:p>
            <a:pPr algn="l"/>
            <a:r>
              <a:rPr sz="2800" b="1">
                <a:solidFill>
                  <a:srgbClr val="F8FAFC"/>
                </a:solidFill>
                <a:latin typeface="Calibri"/>
              </a:rPr>
              <a:t>From Input to Complete QA Output</a:t>
            </a:r>
          </a:p>
        </p:txBody>
      </p:sp>
      <p:sp>
        <p:nvSpPr>
          <p:cNvPr id="6" name="Rectangle 5"/>
          <p:cNvSpPr/>
          <p:nvPr/>
        </p:nvSpPr>
        <p:spPr>
          <a:xfrm>
            <a:off x="640080" y="822960"/>
            <a:ext cx="164592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4_hero.png"/>
          <p:cNvPicPr>
            <a:picLocks noChangeAspect="1"/>
          </p:cNvPicPr>
          <p:nvPr/>
        </p:nvPicPr>
        <p:blipFill>
          <a:blip r:embed="rId3"/>
          <a:stretch>
            <a:fillRect/>
          </a:stretch>
        </p:blipFill>
        <p:spPr>
          <a:xfrm>
            <a:off x="8229600" y="4206240"/>
            <a:ext cx="3657600" cy="2377440"/>
          </a:xfrm>
          <a:prstGeom prst="rect">
            <a:avLst/>
          </a:prstGeom>
        </p:spPr>
      </p:pic>
      <p:sp>
        <p:nvSpPr>
          <p:cNvPr id="8" name="Rectangle 7"/>
          <p:cNvSpPr/>
          <p:nvPr/>
        </p:nvSpPr>
        <p:spPr>
          <a:xfrm>
            <a:off x="8229600" y="4206240"/>
            <a:ext cx="3657600" cy="237744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09728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261872"/>
            <a:ext cx="365760" cy="365760"/>
          </a:xfrm>
          <a:prstGeom prst="rect">
            <a:avLst/>
          </a:prstGeom>
          <a:noFill/>
        </p:spPr>
        <p:txBody>
          <a:bodyPr wrap="none">
            <a:spAutoFit/>
          </a:bodyPr>
          <a:lstStyle/>
          <a:p>
            <a:pPr algn="l"/>
            <a:r>
              <a:rPr sz="1600" b="1">
                <a:solidFill>
                  <a:srgbClr val="38BDF8"/>
                </a:solidFill>
                <a:latin typeface="Calibri"/>
              </a:rPr>
              <a:t>1</a:t>
            </a:r>
          </a:p>
        </p:txBody>
      </p:sp>
      <p:sp>
        <p:nvSpPr>
          <p:cNvPr id="11" name="TextBox 10"/>
          <p:cNvSpPr txBox="1"/>
          <p:nvPr/>
        </p:nvSpPr>
        <p:spPr>
          <a:xfrm>
            <a:off x="1097280" y="1261872"/>
            <a:ext cx="1874519" cy="502920"/>
          </a:xfrm>
          <a:prstGeom prst="rect">
            <a:avLst/>
          </a:prstGeom>
          <a:noFill/>
        </p:spPr>
        <p:txBody>
          <a:bodyPr wrap="none">
            <a:spAutoFit/>
          </a:bodyPr>
          <a:lstStyle/>
          <a:p>
            <a:pPr algn="l"/>
            <a:r>
              <a:rPr sz="1200" b="0">
                <a:solidFill>
                  <a:srgbClr val="CBD5E1"/>
                </a:solidFill>
                <a:latin typeface="Calibri"/>
              </a:rPr>
              <a:t>Build system flow graph</a:t>
            </a:r>
          </a:p>
        </p:txBody>
      </p:sp>
      <p:sp>
        <p:nvSpPr>
          <p:cNvPr id="12" name="Rounded Rectangle 11"/>
          <p:cNvSpPr/>
          <p:nvPr/>
        </p:nvSpPr>
        <p:spPr>
          <a:xfrm>
            <a:off x="3246120" y="109728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0" y="1261872"/>
            <a:ext cx="365760" cy="365760"/>
          </a:xfrm>
          <a:prstGeom prst="rect">
            <a:avLst/>
          </a:prstGeom>
          <a:noFill/>
        </p:spPr>
        <p:txBody>
          <a:bodyPr wrap="none">
            <a:spAutoFit/>
          </a:bodyPr>
          <a:lstStyle/>
          <a:p>
            <a:pPr algn="l"/>
            <a:r>
              <a:rPr sz="1600" b="1">
                <a:solidFill>
                  <a:srgbClr val="38BDF8"/>
                </a:solidFill>
                <a:latin typeface="Calibri"/>
              </a:rPr>
              <a:t>2</a:t>
            </a:r>
          </a:p>
        </p:txBody>
      </p:sp>
      <p:sp>
        <p:nvSpPr>
          <p:cNvPr id="14" name="TextBox 13"/>
          <p:cNvSpPr txBox="1"/>
          <p:nvPr/>
        </p:nvSpPr>
        <p:spPr>
          <a:xfrm>
            <a:off x="3703320" y="1261872"/>
            <a:ext cx="1732334" cy="461665"/>
          </a:xfrm>
          <a:prstGeom prst="rect">
            <a:avLst/>
          </a:prstGeom>
          <a:noFill/>
        </p:spPr>
        <p:txBody>
          <a:bodyPr wrap="none">
            <a:spAutoFit/>
          </a:bodyPr>
          <a:lstStyle/>
          <a:p>
            <a:pPr algn="l"/>
            <a:r>
              <a:rPr sz="1200" b="0" dirty="0">
                <a:solidFill>
                  <a:srgbClr val="CBD5E1"/>
                </a:solidFill>
                <a:latin typeface="Calibri"/>
              </a:rPr>
              <a:t>Add knowledge / </a:t>
            </a:r>
            <a:endParaRPr lang="en-IN" sz="1200" b="0" dirty="0">
              <a:solidFill>
                <a:srgbClr val="CBD5E1"/>
              </a:solidFill>
              <a:latin typeface="Calibri"/>
            </a:endParaRPr>
          </a:p>
          <a:p>
            <a:pPr algn="l"/>
            <a:r>
              <a:rPr sz="1200" b="0" dirty="0">
                <a:solidFill>
                  <a:srgbClr val="CBD5E1"/>
                </a:solidFill>
                <a:latin typeface="Calibri"/>
              </a:rPr>
              <a:t>import Jira &amp; Confluence</a:t>
            </a:r>
          </a:p>
        </p:txBody>
      </p:sp>
      <p:sp>
        <p:nvSpPr>
          <p:cNvPr id="15" name="Rounded Rectangle 14"/>
          <p:cNvSpPr/>
          <p:nvPr/>
        </p:nvSpPr>
        <p:spPr>
          <a:xfrm>
            <a:off x="5852160" y="109728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89320" y="1261872"/>
            <a:ext cx="365760" cy="365760"/>
          </a:xfrm>
          <a:prstGeom prst="rect">
            <a:avLst/>
          </a:prstGeom>
          <a:noFill/>
        </p:spPr>
        <p:txBody>
          <a:bodyPr wrap="none">
            <a:spAutoFit/>
          </a:bodyPr>
          <a:lstStyle/>
          <a:p>
            <a:pPr algn="l"/>
            <a:r>
              <a:rPr sz="1600" b="1">
                <a:solidFill>
                  <a:srgbClr val="38BDF8"/>
                </a:solidFill>
                <a:latin typeface="Calibri"/>
              </a:rPr>
              <a:t>3</a:t>
            </a:r>
          </a:p>
        </p:txBody>
      </p:sp>
      <p:sp>
        <p:nvSpPr>
          <p:cNvPr id="17" name="TextBox 16"/>
          <p:cNvSpPr txBox="1"/>
          <p:nvPr/>
        </p:nvSpPr>
        <p:spPr>
          <a:xfrm>
            <a:off x="6309360" y="1261872"/>
            <a:ext cx="1874519" cy="502920"/>
          </a:xfrm>
          <a:prstGeom prst="rect">
            <a:avLst/>
          </a:prstGeom>
          <a:noFill/>
        </p:spPr>
        <p:txBody>
          <a:bodyPr wrap="none">
            <a:spAutoFit/>
          </a:bodyPr>
          <a:lstStyle/>
          <a:p>
            <a:pPr algn="l"/>
            <a:r>
              <a:rPr sz="1200" b="0">
                <a:solidFill>
                  <a:srgbClr val="CBD5E1"/>
                </a:solidFill>
                <a:latin typeface="Calibri"/>
              </a:rPr>
              <a:t>Run agentic analysis</a:t>
            </a:r>
          </a:p>
        </p:txBody>
      </p:sp>
      <p:sp>
        <p:nvSpPr>
          <p:cNvPr id="18" name="Rounded Rectangle 17"/>
          <p:cNvSpPr/>
          <p:nvPr/>
        </p:nvSpPr>
        <p:spPr>
          <a:xfrm>
            <a:off x="640080" y="196596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2130552"/>
            <a:ext cx="365760" cy="365760"/>
          </a:xfrm>
          <a:prstGeom prst="rect">
            <a:avLst/>
          </a:prstGeom>
          <a:noFill/>
        </p:spPr>
        <p:txBody>
          <a:bodyPr wrap="none">
            <a:spAutoFit/>
          </a:bodyPr>
          <a:lstStyle/>
          <a:p>
            <a:pPr algn="l"/>
            <a:r>
              <a:rPr sz="1600" b="1">
                <a:solidFill>
                  <a:srgbClr val="38BDF8"/>
                </a:solidFill>
                <a:latin typeface="Calibri"/>
              </a:rPr>
              <a:t>4</a:t>
            </a:r>
          </a:p>
        </p:txBody>
      </p:sp>
      <p:sp>
        <p:nvSpPr>
          <p:cNvPr id="20" name="TextBox 19"/>
          <p:cNvSpPr txBox="1"/>
          <p:nvPr/>
        </p:nvSpPr>
        <p:spPr>
          <a:xfrm>
            <a:off x="1097280" y="2130552"/>
            <a:ext cx="1874519" cy="502920"/>
          </a:xfrm>
          <a:prstGeom prst="rect">
            <a:avLst/>
          </a:prstGeom>
          <a:noFill/>
        </p:spPr>
        <p:txBody>
          <a:bodyPr wrap="none">
            <a:spAutoFit/>
          </a:bodyPr>
          <a:lstStyle/>
          <a:p>
            <a:pPr algn="l"/>
            <a:r>
              <a:rPr sz="1200" b="0">
                <a:solidFill>
                  <a:srgbClr val="CBD5E1"/>
                </a:solidFill>
                <a:latin typeface="Calibri"/>
              </a:rPr>
              <a:t>Generate test cases</a:t>
            </a:r>
          </a:p>
        </p:txBody>
      </p:sp>
      <p:sp>
        <p:nvSpPr>
          <p:cNvPr id="21" name="Rounded Rectangle 20"/>
          <p:cNvSpPr/>
          <p:nvPr/>
        </p:nvSpPr>
        <p:spPr>
          <a:xfrm>
            <a:off x="3246120" y="196596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0" y="2130552"/>
            <a:ext cx="365760" cy="365760"/>
          </a:xfrm>
          <a:prstGeom prst="rect">
            <a:avLst/>
          </a:prstGeom>
          <a:noFill/>
        </p:spPr>
        <p:txBody>
          <a:bodyPr wrap="none">
            <a:spAutoFit/>
          </a:bodyPr>
          <a:lstStyle/>
          <a:p>
            <a:pPr algn="l"/>
            <a:r>
              <a:rPr sz="1600" b="1">
                <a:solidFill>
                  <a:srgbClr val="38BDF8"/>
                </a:solidFill>
                <a:latin typeface="Calibri"/>
              </a:rPr>
              <a:t>5</a:t>
            </a:r>
          </a:p>
        </p:txBody>
      </p:sp>
      <p:sp>
        <p:nvSpPr>
          <p:cNvPr id="23" name="TextBox 22"/>
          <p:cNvSpPr txBox="1"/>
          <p:nvPr/>
        </p:nvSpPr>
        <p:spPr>
          <a:xfrm>
            <a:off x="3703320" y="2130552"/>
            <a:ext cx="1874519" cy="502920"/>
          </a:xfrm>
          <a:prstGeom prst="rect">
            <a:avLst/>
          </a:prstGeom>
          <a:noFill/>
        </p:spPr>
        <p:txBody>
          <a:bodyPr wrap="none">
            <a:spAutoFit/>
          </a:bodyPr>
          <a:lstStyle/>
          <a:p>
            <a:pPr algn="l"/>
            <a:r>
              <a:rPr sz="1200" b="0">
                <a:solidFill>
                  <a:srgbClr val="CBD5E1"/>
                </a:solidFill>
                <a:latin typeface="Calibri"/>
              </a:rPr>
              <a:t>Review validity</a:t>
            </a:r>
          </a:p>
        </p:txBody>
      </p:sp>
      <p:sp>
        <p:nvSpPr>
          <p:cNvPr id="24" name="Rounded Rectangle 23"/>
          <p:cNvSpPr/>
          <p:nvPr/>
        </p:nvSpPr>
        <p:spPr>
          <a:xfrm>
            <a:off x="5852160" y="1965960"/>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89320" y="2130552"/>
            <a:ext cx="365760" cy="365760"/>
          </a:xfrm>
          <a:prstGeom prst="rect">
            <a:avLst/>
          </a:prstGeom>
          <a:noFill/>
        </p:spPr>
        <p:txBody>
          <a:bodyPr wrap="none">
            <a:spAutoFit/>
          </a:bodyPr>
          <a:lstStyle/>
          <a:p>
            <a:pPr algn="l"/>
            <a:r>
              <a:rPr sz="1600" b="1">
                <a:solidFill>
                  <a:srgbClr val="38BDF8"/>
                </a:solidFill>
                <a:latin typeface="Calibri"/>
              </a:rPr>
              <a:t>6</a:t>
            </a:r>
          </a:p>
        </p:txBody>
      </p:sp>
      <p:sp>
        <p:nvSpPr>
          <p:cNvPr id="26" name="TextBox 25"/>
          <p:cNvSpPr txBox="1"/>
          <p:nvPr/>
        </p:nvSpPr>
        <p:spPr>
          <a:xfrm>
            <a:off x="6309360" y="2130552"/>
            <a:ext cx="1874519" cy="502920"/>
          </a:xfrm>
          <a:prstGeom prst="rect">
            <a:avLst/>
          </a:prstGeom>
          <a:noFill/>
        </p:spPr>
        <p:txBody>
          <a:bodyPr wrap="none">
            <a:spAutoFit/>
          </a:bodyPr>
          <a:lstStyle/>
          <a:p>
            <a:pPr algn="l"/>
            <a:r>
              <a:rPr sz="1200" b="0">
                <a:solidFill>
                  <a:srgbClr val="CBD5E1"/>
                </a:solidFill>
                <a:latin typeface="Calibri"/>
              </a:rPr>
              <a:t>Classify automation feasibility</a:t>
            </a:r>
          </a:p>
        </p:txBody>
      </p:sp>
      <p:sp>
        <p:nvSpPr>
          <p:cNvPr id="27" name="Rounded Rectangle 26"/>
          <p:cNvSpPr/>
          <p:nvPr/>
        </p:nvSpPr>
        <p:spPr>
          <a:xfrm>
            <a:off x="640080" y="2834639"/>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2999231"/>
            <a:ext cx="365760" cy="365760"/>
          </a:xfrm>
          <a:prstGeom prst="rect">
            <a:avLst/>
          </a:prstGeom>
          <a:noFill/>
        </p:spPr>
        <p:txBody>
          <a:bodyPr wrap="none">
            <a:spAutoFit/>
          </a:bodyPr>
          <a:lstStyle/>
          <a:p>
            <a:pPr algn="l"/>
            <a:r>
              <a:rPr sz="1600" b="1">
                <a:solidFill>
                  <a:srgbClr val="38BDF8"/>
                </a:solidFill>
                <a:latin typeface="Calibri"/>
              </a:rPr>
              <a:t>7</a:t>
            </a:r>
          </a:p>
        </p:txBody>
      </p:sp>
      <p:sp>
        <p:nvSpPr>
          <p:cNvPr id="29" name="TextBox 28"/>
          <p:cNvSpPr txBox="1"/>
          <p:nvPr/>
        </p:nvSpPr>
        <p:spPr>
          <a:xfrm>
            <a:off x="1097280" y="2999231"/>
            <a:ext cx="1874519" cy="502920"/>
          </a:xfrm>
          <a:prstGeom prst="rect">
            <a:avLst/>
          </a:prstGeom>
          <a:noFill/>
        </p:spPr>
        <p:txBody>
          <a:bodyPr wrap="none">
            <a:spAutoFit/>
          </a:bodyPr>
          <a:lstStyle/>
          <a:p>
            <a:pPr algn="l"/>
            <a:r>
              <a:rPr sz="1200" b="0">
                <a:solidFill>
                  <a:srgbClr val="CBD5E1"/>
                </a:solidFill>
                <a:latin typeface="Calibri"/>
              </a:rPr>
              <a:t>Detect coverage gaps</a:t>
            </a:r>
          </a:p>
        </p:txBody>
      </p:sp>
      <p:sp>
        <p:nvSpPr>
          <p:cNvPr id="30" name="Rounded Rectangle 29"/>
          <p:cNvSpPr/>
          <p:nvPr/>
        </p:nvSpPr>
        <p:spPr>
          <a:xfrm>
            <a:off x="3246120" y="2834639"/>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0" y="2999231"/>
            <a:ext cx="365760" cy="365760"/>
          </a:xfrm>
          <a:prstGeom prst="rect">
            <a:avLst/>
          </a:prstGeom>
          <a:noFill/>
        </p:spPr>
        <p:txBody>
          <a:bodyPr wrap="none">
            <a:spAutoFit/>
          </a:bodyPr>
          <a:lstStyle/>
          <a:p>
            <a:pPr algn="l"/>
            <a:r>
              <a:rPr sz="1600" b="1">
                <a:solidFill>
                  <a:srgbClr val="38BDF8"/>
                </a:solidFill>
                <a:latin typeface="Calibri"/>
              </a:rPr>
              <a:t>8</a:t>
            </a:r>
          </a:p>
        </p:txBody>
      </p:sp>
      <p:sp>
        <p:nvSpPr>
          <p:cNvPr id="32" name="TextBox 31"/>
          <p:cNvSpPr txBox="1"/>
          <p:nvPr/>
        </p:nvSpPr>
        <p:spPr>
          <a:xfrm>
            <a:off x="3703320" y="2999231"/>
            <a:ext cx="1874519" cy="502920"/>
          </a:xfrm>
          <a:prstGeom prst="rect">
            <a:avLst/>
          </a:prstGeom>
          <a:noFill/>
        </p:spPr>
        <p:txBody>
          <a:bodyPr wrap="none">
            <a:spAutoFit/>
          </a:bodyPr>
          <a:lstStyle/>
          <a:p>
            <a:pPr algn="l"/>
            <a:r>
              <a:rPr sz="1200" b="0">
                <a:solidFill>
                  <a:srgbClr val="CBD5E1"/>
                </a:solidFill>
                <a:latin typeface="Calibri"/>
              </a:rPr>
              <a:t>Generate targeted tests</a:t>
            </a:r>
          </a:p>
        </p:txBody>
      </p:sp>
      <p:sp>
        <p:nvSpPr>
          <p:cNvPr id="33" name="Rounded Rectangle 32"/>
          <p:cNvSpPr/>
          <p:nvPr/>
        </p:nvSpPr>
        <p:spPr>
          <a:xfrm>
            <a:off x="5852160" y="2834639"/>
            <a:ext cx="2468880" cy="749808"/>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89320" y="2999231"/>
            <a:ext cx="365760" cy="365760"/>
          </a:xfrm>
          <a:prstGeom prst="rect">
            <a:avLst/>
          </a:prstGeom>
          <a:noFill/>
        </p:spPr>
        <p:txBody>
          <a:bodyPr wrap="none">
            <a:spAutoFit/>
          </a:bodyPr>
          <a:lstStyle/>
          <a:p>
            <a:pPr algn="l"/>
            <a:r>
              <a:rPr sz="1600" b="1">
                <a:solidFill>
                  <a:srgbClr val="38BDF8"/>
                </a:solidFill>
                <a:latin typeface="Calibri"/>
              </a:rPr>
              <a:t>9</a:t>
            </a:r>
          </a:p>
        </p:txBody>
      </p:sp>
      <p:sp>
        <p:nvSpPr>
          <p:cNvPr id="35" name="TextBox 34"/>
          <p:cNvSpPr txBox="1"/>
          <p:nvPr/>
        </p:nvSpPr>
        <p:spPr>
          <a:xfrm>
            <a:off x="6309360" y="2999231"/>
            <a:ext cx="1874519" cy="502920"/>
          </a:xfrm>
          <a:prstGeom prst="rect">
            <a:avLst/>
          </a:prstGeom>
          <a:noFill/>
        </p:spPr>
        <p:txBody>
          <a:bodyPr wrap="none">
            <a:spAutoFit/>
          </a:bodyPr>
          <a:lstStyle/>
          <a:p>
            <a:pPr algn="l"/>
            <a:r>
              <a:rPr sz="1200" b="0">
                <a:solidFill>
                  <a:srgbClr val="CBD5E1"/>
                </a:solidFill>
                <a:latin typeface="Calibri"/>
              </a:rPr>
              <a:t>Export BDD / Gherkin</a:t>
            </a:r>
          </a:p>
        </p:txBody>
      </p:sp>
      <p:sp>
        <p:nvSpPr>
          <p:cNvPr id="36" name="Rounded Rectangle 35"/>
          <p:cNvSpPr/>
          <p:nvPr/>
        </p:nvSpPr>
        <p:spPr>
          <a:xfrm>
            <a:off x="640080" y="3840480"/>
            <a:ext cx="7589520" cy="502920"/>
          </a:xfrm>
          <a:prstGeom prst="roundRect">
            <a:avLst>
              <a:gd name="adj" fmla="val 8000"/>
            </a:avLst>
          </a:prstGeom>
          <a:solidFill>
            <a:srgbClr val="121A2B"/>
          </a:solidFill>
          <a:ln w="15875">
            <a:solidFill>
              <a:srgbClr val="38BDF8"/>
            </a:solidFill>
          </a:ln>
        </p:spPr>
        <p:style>
          <a:lnRef idx="1">
            <a:schemeClr val="accent1"/>
          </a:lnRef>
          <a:fillRef idx="3">
            <a:schemeClr val="accent1"/>
          </a:fillRef>
          <a:effectRef idx="2">
            <a:schemeClr val="accent1"/>
          </a:effectRef>
          <a:fontRef idx="minor">
            <a:schemeClr val="lt1"/>
          </a:fontRef>
        </p:style>
        <p:txBody>
          <a:bodyPr tIns="127000" rtlCol="0" anchor="ctr"/>
          <a:lstStyle/>
          <a:p>
            <a:pPr algn="ctr"/>
            <a:r>
              <a:rPr sz="1300" b="1">
                <a:solidFill>
                  <a:srgbClr val="38BDF8"/>
                </a:solidFill>
                <a:latin typeface="Calibri"/>
              </a:rPr>
              <a:t>Agent Loop   ·   Generate  -&gt;  Review  -&gt;  Fix  -&gt;  Cover  -&gt;  Export</a:t>
            </a:r>
          </a:p>
        </p:txBody>
      </p:sp>
      <p:sp>
        <p:nvSpPr>
          <p:cNvPr id="37" name="TextBox 36"/>
          <p:cNvSpPr txBox="1"/>
          <p:nvPr/>
        </p:nvSpPr>
        <p:spPr>
          <a:xfrm>
            <a:off x="640080" y="4526280"/>
            <a:ext cx="3657600" cy="320040"/>
          </a:xfrm>
          <a:prstGeom prst="rect">
            <a:avLst/>
          </a:prstGeom>
          <a:noFill/>
        </p:spPr>
        <p:txBody>
          <a:bodyPr wrap="none">
            <a:spAutoFit/>
          </a:bodyPr>
          <a:lstStyle/>
          <a:p>
            <a:pPr algn="l"/>
            <a:r>
              <a:rPr sz="1100" b="1">
                <a:solidFill>
                  <a:srgbClr val="F5C542"/>
                </a:solidFill>
                <a:latin typeface="Calibri"/>
              </a:rPr>
              <a:t>OUTPUTS</a:t>
            </a:r>
          </a:p>
        </p:txBody>
      </p:sp>
      <p:sp>
        <p:nvSpPr>
          <p:cNvPr id="38" name="Rounded Rectangle 37"/>
          <p:cNvSpPr/>
          <p:nvPr/>
        </p:nvSpPr>
        <p:spPr>
          <a:xfrm>
            <a:off x="64008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Test Cases</a:t>
            </a:r>
          </a:p>
        </p:txBody>
      </p:sp>
      <p:sp>
        <p:nvSpPr>
          <p:cNvPr id="39" name="Rounded Rectangle 38"/>
          <p:cNvSpPr/>
          <p:nvPr/>
        </p:nvSpPr>
        <p:spPr>
          <a:xfrm>
            <a:off x="219456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BDD Feature Files</a:t>
            </a:r>
          </a:p>
        </p:txBody>
      </p:sp>
      <p:sp>
        <p:nvSpPr>
          <p:cNvPr id="40" name="Rounded Rectangle 39"/>
          <p:cNvSpPr/>
          <p:nvPr/>
        </p:nvSpPr>
        <p:spPr>
          <a:xfrm>
            <a:off x="3749039"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Automation Review</a:t>
            </a:r>
          </a:p>
        </p:txBody>
      </p:sp>
      <p:sp>
        <p:nvSpPr>
          <p:cNvPr id="41" name="Rounded Rectangle 40"/>
          <p:cNvSpPr/>
          <p:nvPr/>
        </p:nvSpPr>
        <p:spPr>
          <a:xfrm>
            <a:off x="530352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Exploratory Missions</a:t>
            </a:r>
          </a:p>
        </p:txBody>
      </p:sp>
      <p:sp>
        <p:nvSpPr>
          <p:cNvPr id="42" name="Rounded Rectangle 41"/>
          <p:cNvSpPr/>
          <p:nvPr/>
        </p:nvSpPr>
        <p:spPr>
          <a:xfrm>
            <a:off x="6858000" y="493776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Bug Reports</a:t>
            </a:r>
          </a:p>
        </p:txBody>
      </p:sp>
      <p:sp>
        <p:nvSpPr>
          <p:cNvPr id="43" name="Rounded Rectangle 42"/>
          <p:cNvSpPr/>
          <p:nvPr/>
        </p:nvSpPr>
        <p:spPr>
          <a:xfrm>
            <a:off x="640080"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Regression Recs</a:t>
            </a:r>
          </a:p>
        </p:txBody>
      </p:sp>
      <p:sp>
        <p:nvSpPr>
          <p:cNvPr id="44" name="Rounded Rectangle 43"/>
          <p:cNvSpPr/>
          <p:nvPr/>
        </p:nvSpPr>
        <p:spPr>
          <a:xfrm>
            <a:off x="2194560"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Coverage Gaps</a:t>
            </a:r>
          </a:p>
        </p:txBody>
      </p:sp>
      <p:sp>
        <p:nvSpPr>
          <p:cNvPr id="45" name="Rounded Rectangle 44"/>
          <p:cNvSpPr/>
          <p:nvPr/>
        </p:nvSpPr>
        <p:spPr>
          <a:xfrm>
            <a:off x="3749039"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Sources &amp; Evidence</a:t>
            </a:r>
          </a:p>
        </p:txBody>
      </p:sp>
      <p:sp>
        <p:nvSpPr>
          <p:cNvPr id="46" name="Rounded Rectangle 45"/>
          <p:cNvSpPr/>
          <p:nvPr/>
        </p:nvSpPr>
        <p:spPr>
          <a:xfrm>
            <a:off x="5303520" y="5440680"/>
            <a:ext cx="1417320" cy="365760"/>
          </a:xfrm>
          <a:prstGeom prst="roundRect">
            <a:avLst>
              <a:gd name="adj" fmla="val 50000"/>
            </a:avLst>
          </a:prstGeom>
          <a:solidFill>
            <a:srgbClr val="151E2E"/>
          </a:solidFill>
          <a:ln w="15875">
            <a:solidFill>
              <a:srgbClr val="151E2E"/>
            </a:solidFill>
          </a:ln>
        </p:spPr>
        <p:style>
          <a:lnRef idx="1">
            <a:schemeClr val="accent1"/>
          </a:lnRef>
          <a:fillRef idx="3">
            <a:schemeClr val="accent1"/>
          </a:fillRef>
          <a:effectRef idx="2">
            <a:schemeClr val="accent1"/>
          </a:effectRef>
          <a:fontRef idx="minor">
            <a:schemeClr val="lt1"/>
          </a:fontRef>
        </p:style>
        <p:txBody>
          <a:bodyPr wrap="none" tIns="76200" bIns="50800" rtlCol="0" anchor="ctr"/>
          <a:lstStyle/>
          <a:p>
            <a:pPr algn="ctr"/>
            <a:r>
              <a:rPr sz="1100" b="1">
                <a:solidFill>
                  <a:srgbClr val="CBD5E1"/>
                </a:solidFill>
                <a:latin typeface="Calibri"/>
              </a:rPr>
              <a:t>Agent Trace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21424"/>
            <a:ext cx="12191695" cy="3657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lide5_hero.png"/>
          <p:cNvPicPr>
            <a:picLocks noChangeAspect="1"/>
          </p:cNvPicPr>
          <p:nvPr/>
        </p:nvPicPr>
        <p:blipFill>
          <a:blip r:embed="rId3"/>
          <a:stretch>
            <a:fillRect/>
          </a:stretch>
        </p:blipFill>
        <p:spPr>
          <a:xfrm>
            <a:off x="8503920" y="1005840"/>
            <a:ext cx="3383280" cy="3840480"/>
          </a:xfrm>
          <a:prstGeom prst="rect">
            <a:avLst/>
          </a:prstGeom>
        </p:spPr>
      </p:pic>
      <p:sp>
        <p:nvSpPr>
          <p:cNvPr id="6" name="Rectangle 5"/>
          <p:cNvSpPr/>
          <p:nvPr/>
        </p:nvSpPr>
        <p:spPr>
          <a:xfrm>
            <a:off x="8503920" y="1005840"/>
            <a:ext cx="3383280" cy="3840480"/>
          </a:xfrm>
          <a:prstGeom prst="rect">
            <a:avLst/>
          </a:prstGeom>
          <a:solidFill>
            <a:srgbClr val="080F1C">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20040"/>
            <a:ext cx="10972800" cy="502920"/>
          </a:xfrm>
          <a:prstGeom prst="rect">
            <a:avLst/>
          </a:prstGeom>
          <a:noFill/>
        </p:spPr>
        <p:txBody>
          <a:bodyPr wrap="none">
            <a:spAutoFit/>
          </a:bodyPr>
          <a:lstStyle/>
          <a:p>
            <a:pPr algn="l"/>
            <a:r>
              <a:rPr sz="2800" b="1">
                <a:solidFill>
                  <a:srgbClr val="F8FAFC"/>
                </a:solidFill>
                <a:latin typeface="Calibri"/>
              </a:rPr>
              <a:t>What Makes This Demo Powerful</a:t>
            </a:r>
          </a:p>
        </p:txBody>
      </p:sp>
      <p:sp>
        <p:nvSpPr>
          <p:cNvPr id="8" name="Rectangle 7"/>
          <p:cNvSpPr/>
          <p:nvPr/>
        </p:nvSpPr>
        <p:spPr>
          <a:xfrm>
            <a:off x="640080" y="868680"/>
            <a:ext cx="1645920" cy="4572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18872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188720"/>
            <a:ext cx="73152" cy="1371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417320"/>
            <a:ext cx="640080" cy="320040"/>
          </a:xfrm>
          <a:prstGeom prst="rect">
            <a:avLst/>
          </a:prstGeom>
          <a:noFill/>
        </p:spPr>
        <p:txBody>
          <a:bodyPr wrap="none">
            <a:spAutoFit/>
          </a:bodyPr>
          <a:lstStyle/>
          <a:p>
            <a:pPr algn="l"/>
            <a:r>
              <a:rPr sz="1600" b="1">
                <a:solidFill>
                  <a:srgbClr val="2DD4BF"/>
                </a:solidFill>
                <a:latin typeface="Calibri"/>
              </a:rPr>
              <a:t>01</a:t>
            </a:r>
          </a:p>
        </p:txBody>
      </p:sp>
      <p:sp>
        <p:nvSpPr>
          <p:cNvPr id="12" name="TextBox 11"/>
          <p:cNvSpPr txBox="1"/>
          <p:nvPr/>
        </p:nvSpPr>
        <p:spPr>
          <a:xfrm>
            <a:off x="914400" y="1691640"/>
            <a:ext cx="3108960" cy="320040"/>
          </a:xfrm>
          <a:prstGeom prst="rect">
            <a:avLst/>
          </a:prstGeom>
          <a:noFill/>
        </p:spPr>
        <p:txBody>
          <a:bodyPr wrap="none">
            <a:spAutoFit/>
          </a:bodyPr>
          <a:lstStyle/>
          <a:p>
            <a:pPr algn="l"/>
            <a:r>
              <a:rPr sz="1500" b="1">
                <a:solidFill>
                  <a:srgbClr val="F8FAFC"/>
                </a:solidFill>
                <a:latin typeface="Calibri"/>
              </a:rPr>
              <a:t>Context-aware QA</a:t>
            </a:r>
          </a:p>
        </p:txBody>
      </p:sp>
      <p:sp>
        <p:nvSpPr>
          <p:cNvPr id="13" name="TextBox 12"/>
          <p:cNvSpPr txBox="1"/>
          <p:nvPr/>
        </p:nvSpPr>
        <p:spPr>
          <a:xfrm>
            <a:off x="914400" y="2057400"/>
            <a:ext cx="3108960" cy="365760"/>
          </a:xfrm>
          <a:prstGeom prst="rect">
            <a:avLst/>
          </a:prstGeom>
          <a:noFill/>
        </p:spPr>
        <p:txBody>
          <a:bodyPr wrap="none">
            <a:spAutoFit/>
          </a:bodyPr>
          <a:lstStyle/>
          <a:p>
            <a:pPr algn="l"/>
            <a:r>
              <a:rPr sz="1200" b="0">
                <a:solidFill>
                  <a:srgbClr val="94A3B8"/>
                </a:solidFill>
                <a:latin typeface="Calibri"/>
              </a:rPr>
              <a:t>Uses actual system flow and project knowledge.</a:t>
            </a:r>
          </a:p>
        </p:txBody>
      </p:sp>
      <p:sp>
        <p:nvSpPr>
          <p:cNvPr id="14" name="Rounded Rectangle 13"/>
          <p:cNvSpPr/>
          <p:nvPr/>
        </p:nvSpPr>
        <p:spPr>
          <a:xfrm>
            <a:off x="4480560" y="118872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80560" y="1188720"/>
            <a:ext cx="73152" cy="13716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0" y="1417320"/>
            <a:ext cx="640080" cy="320040"/>
          </a:xfrm>
          <a:prstGeom prst="rect">
            <a:avLst/>
          </a:prstGeom>
          <a:noFill/>
        </p:spPr>
        <p:txBody>
          <a:bodyPr wrap="none">
            <a:spAutoFit/>
          </a:bodyPr>
          <a:lstStyle/>
          <a:p>
            <a:pPr algn="l"/>
            <a:r>
              <a:rPr sz="1600" b="1">
                <a:solidFill>
                  <a:srgbClr val="38BDF8"/>
                </a:solidFill>
                <a:latin typeface="Calibri"/>
              </a:rPr>
              <a:t>02</a:t>
            </a:r>
          </a:p>
        </p:txBody>
      </p:sp>
      <p:sp>
        <p:nvSpPr>
          <p:cNvPr id="17" name="TextBox 16"/>
          <p:cNvSpPr txBox="1"/>
          <p:nvPr/>
        </p:nvSpPr>
        <p:spPr>
          <a:xfrm>
            <a:off x="4754880" y="1691640"/>
            <a:ext cx="3108960" cy="320040"/>
          </a:xfrm>
          <a:prstGeom prst="rect">
            <a:avLst/>
          </a:prstGeom>
          <a:noFill/>
        </p:spPr>
        <p:txBody>
          <a:bodyPr wrap="none">
            <a:spAutoFit/>
          </a:bodyPr>
          <a:lstStyle/>
          <a:p>
            <a:pPr algn="l"/>
            <a:r>
              <a:rPr sz="1500" b="1">
                <a:solidFill>
                  <a:srgbClr val="F8FAFC"/>
                </a:solidFill>
                <a:latin typeface="Calibri"/>
              </a:rPr>
              <a:t>Evidence-backed results</a:t>
            </a:r>
          </a:p>
        </p:txBody>
      </p:sp>
      <p:sp>
        <p:nvSpPr>
          <p:cNvPr id="18" name="TextBox 17"/>
          <p:cNvSpPr txBox="1"/>
          <p:nvPr/>
        </p:nvSpPr>
        <p:spPr>
          <a:xfrm>
            <a:off x="4754880" y="2057400"/>
            <a:ext cx="3227550" cy="461665"/>
          </a:xfrm>
          <a:prstGeom prst="rect">
            <a:avLst/>
          </a:prstGeom>
          <a:noFill/>
        </p:spPr>
        <p:txBody>
          <a:bodyPr wrap="none">
            <a:spAutoFit/>
          </a:bodyPr>
          <a:lstStyle/>
          <a:p>
            <a:pPr algn="l"/>
            <a:r>
              <a:rPr sz="1200" b="0" dirty="0">
                <a:solidFill>
                  <a:srgbClr val="94A3B8"/>
                </a:solidFill>
                <a:latin typeface="Calibri"/>
              </a:rPr>
              <a:t>Every output links to graph paths, requirements, </a:t>
            </a:r>
            <a:endParaRPr lang="en-IN" sz="1200" b="0" dirty="0">
              <a:solidFill>
                <a:srgbClr val="94A3B8"/>
              </a:solidFill>
              <a:latin typeface="Calibri"/>
            </a:endParaRPr>
          </a:p>
          <a:p>
            <a:pPr algn="l"/>
            <a:r>
              <a:rPr sz="1200" b="0" dirty="0">
                <a:solidFill>
                  <a:srgbClr val="94A3B8"/>
                </a:solidFill>
                <a:latin typeface="Calibri"/>
              </a:rPr>
              <a:t>bugs, or documents.</a:t>
            </a:r>
          </a:p>
        </p:txBody>
      </p:sp>
      <p:sp>
        <p:nvSpPr>
          <p:cNvPr id="19" name="Rounded Rectangle 18"/>
          <p:cNvSpPr/>
          <p:nvPr/>
        </p:nvSpPr>
        <p:spPr>
          <a:xfrm>
            <a:off x="640080" y="274320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0080" y="2743200"/>
            <a:ext cx="73152" cy="13716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971800"/>
            <a:ext cx="640080" cy="320040"/>
          </a:xfrm>
          <a:prstGeom prst="rect">
            <a:avLst/>
          </a:prstGeom>
          <a:noFill/>
        </p:spPr>
        <p:txBody>
          <a:bodyPr wrap="none">
            <a:spAutoFit/>
          </a:bodyPr>
          <a:lstStyle/>
          <a:p>
            <a:pPr algn="l"/>
            <a:r>
              <a:rPr sz="1600" b="1">
                <a:solidFill>
                  <a:srgbClr val="A78BFA"/>
                </a:solidFill>
                <a:latin typeface="Calibri"/>
              </a:rPr>
              <a:t>03</a:t>
            </a:r>
          </a:p>
        </p:txBody>
      </p:sp>
      <p:sp>
        <p:nvSpPr>
          <p:cNvPr id="22" name="TextBox 21"/>
          <p:cNvSpPr txBox="1"/>
          <p:nvPr/>
        </p:nvSpPr>
        <p:spPr>
          <a:xfrm>
            <a:off x="914400" y="3246120"/>
            <a:ext cx="3108960" cy="320040"/>
          </a:xfrm>
          <a:prstGeom prst="rect">
            <a:avLst/>
          </a:prstGeom>
          <a:noFill/>
        </p:spPr>
        <p:txBody>
          <a:bodyPr wrap="none">
            <a:spAutoFit/>
          </a:bodyPr>
          <a:lstStyle/>
          <a:p>
            <a:pPr algn="l"/>
            <a:r>
              <a:rPr sz="1500" b="1">
                <a:solidFill>
                  <a:srgbClr val="F8FAFC"/>
                </a:solidFill>
                <a:latin typeface="Calibri"/>
              </a:rPr>
              <a:t>Closed-loop coverage</a:t>
            </a:r>
          </a:p>
        </p:txBody>
      </p:sp>
      <p:sp>
        <p:nvSpPr>
          <p:cNvPr id="23" name="TextBox 22"/>
          <p:cNvSpPr txBox="1"/>
          <p:nvPr/>
        </p:nvSpPr>
        <p:spPr>
          <a:xfrm>
            <a:off x="914400" y="3611880"/>
            <a:ext cx="3135089" cy="461665"/>
          </a:xfrm>
          <a:prstGeom prst="rect">
            <a:avLst/>
          </a:prstGeom>
          <a:noFill/>
        </p:spPr>
        <p:txBody>
          <a:bodyPr wrap="none">
            <a:spAutoFit/>
          </a:bodyPr>
          <a:lstStyle/>
          <a:p>
            <a:pPr algn="l"/>
            <a:r>
              <a:rPr sz="1200" b="0" dirty="0">
                <a:solidFill>
                  <a:srgbClr val="94A3B8"/>
                </a:solidFill>
                <a:latin typeface="Calibri"/>
              </a:rPr>
              <a:t>Reviewer finds weak or missing tests and sends</a:t>
            </a:r>
            <a:endParaRPr lang="en-IN" sz="1200" b="0" dirty="0">
              <a:solidFill>
                <a:srgbClr val="94A3B8"/>
              </a:solidFill>
              <a:latin typeface="Calibri"/>
            </a:endParaRPr>
          </a:p>
          <a:p>
            <a:pPr algn="l"/>
            <a:r>
              <a:rPr sz="1200" b="0" dirty="0">
                <a:solidFill>
                  <a:srgbClr val="94A3B8"/>
                </a:solidFill>
                <a:latin typeface="Calibri"/>
              </a:rPr>
              <a:t> them back for refinement.</a:t>
            </a:r>
          </a:p>
        </p:txBody>
      </p:sp>
      <p:sp>
        <p:nvSpPr>
          <p:cNvPr id="24" name="Rounded Rectangle 23"/>
          <p:cNvSpPr/>
          <p:nvPr/>
        </p:nvSpPr>
        <p:spPr>
          <a:xfrm>
            <a:off x="4480560" y="2743200"/>
            <a:ext cx="3657600" cy="1371600"/>
          </a:xfrm>
          <a:prstGeom prst="roundRect">
            <a:avLst>
              <a:gd name="adj" fmla="val 8000"/>
            </a:avLst>
          </a:prstGeom>
          <a:solidFill>
            <a:srgbClr val="161F31"/>
          </a:solidFill>
          <a:ln w="15875">
            <a:solidFill>
              <a:srgbClr val="2A3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80560" y="2743200"/>
            <a:ext cx="73152" cy="137160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54880" y="2971800"/>
            <a:ext cx="640080" cy="320040"/>
          </a:xfrm>
          <a:prstGeom prst="rect">
            <a:avLst/>
          </a:prstGeom>
          <a:noFill/>
        </p:spPr>
        <p:txBody>
          <a:bodyPr wrap="none">
            <a:spAutoFit/>
          </a:bodyPr>
          <a:lstStyle/>
          <a:p>
            <a:pPr algn="l"/>
            <a:r>
              <a:rPr sz="1600" b="1">
                <a:solidFill>
                  <a:srgbClr val="F5C542"/>
                </a:solidFill>
                <a:latin typeface="Calibri"/>
              </a:rPr>
              <a:t>04</a:t>
            </a:r>
          </a:p>
        </p:txBody>
      </p:sp>
      <p:sp>
        <p:nvSpPr>
          <p:cNvPr id="27" name="TextBox 26"/>
          <p:cNvSpPr txBox="1"/>
          <p:nvPr/>
        </p:nvSpPr>
        <p:spPr>
          <a:xfrm>
            <a:off x="4754880" y="3246120"/>
            <a:ext cx="3108960" cy="320040"/>
          </a:xfrm>
          <a:prstGeom prst="rect">
            <a:avLst/>
          </a:prstGeom>
          <a:noFill/>
        </p:spPr>
        <p:txBody>
          <a:bodyPr wrap="none">
            <a:spAutoFit/>
          </a:bodyPr>
          <a:lstStyle/>
          <a:p>
            <a:pPr algn="l"/>
            <a:r>
              <a:rPr sz="1500" b="1">
                <a:solidFill>
                  <a:srgbClr val="F8FAFC"/>
                </a:solidFill>
                <a:latin typeface="Calibri"/>
              </a:rPr>
              <a:t>Automation-ready planning</a:t>
            </a:r>
          </a:p>
        </p:txBody>
      </p:sp>
      <p:sp>
        <p:nvSpPr>
          <p:cNvPr id="28" name="TextBox 27"/>
          <p:cNvSpPr txBox="1"/>
          <p:nvPr/>
        </p:nvSpPr>
        <p:spPr>
          <a:xfrm>
            <a:off x="4754880" y="3611880"/>
            <a:ext cx="3339569" cy="461665"/>
          </a:xfrm>
          <a:prstGeom prst="rect">
            <a:avLst/>
          </a:prstGeom>
          <a:noFill/>
        </p:spPr>
        <p:txBody>
          <a:bodyPr wrap="none">
            <a:spAutoFit/>
          </a:bodyPr>
          <a:lstStyle/>
          <a:p>
            <a:pPr algn="l"/>
            <a:r>
              <a:rPr sz="1200" b="0" dirty="0">
                <a:solidFill>
                  <a:srgbClr val="94A3B8"/>
                </a:solidFill>
                <a:latin typeface="Calibri"/>
              </a:rPr>
              <a:t>Classifies tests as automatable, manual, hybrid, or </a:t>
            </a:r>
            <a:endParaRPr lang="en-IN" sz="1200" b="0" dirty="0">
              <a:solidFill>
                <a:srgbClr val="94A3B8"/>
              </a:solidFill>
              <a:latin typeface="Calibri"/>
            </a:endParaRPr>
          </a:p>
          <a:p>
            <a:pPr algn="l"/>
            <a:r>
              <a:rPr sz="1200" b="0" dirty="0">
                <a:solidFill>
                  <a:srgbClr val="94A3B8"/>
                </a:solidFill>
                <a:latin typeface="Calibri"/>
              </a:rPr>
              <a:t>not ready.</a:t>
            </a:r>
          </a:p>
        </p:txBody>
      </p:sp>
      <p:sp>
        <p:nvSpPr>
          <p:cNvPr id="29" name="Rounded Rectangle 28"/>
          <p:cNvSpPr/>
          <p:nvPr/>
        </p:nvSpPr>
        <p:spPr>
          <a:xfrm>
            <a:off x="640080" y="4572000"/>
            <a:ext cx="10881360" cy="1554480"/>
          </a:xfrm>
          <a:prstGeom prst="roundRect">
            <a:avLst>
              <a:gd name="adj" fmla="val 8000"/>
            </a:avLst>
          </a:prstGeom>
          <a:solidFill>
            <a:srgbClr val="101828"/>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754880"/>
            <a:ext cx="10058400" cy="320040"/>
          </a:xfrm>
          <a:prstGeom prst="rect">
            <a:avLst/>
          </a:prstGeom>
          <a:noFill/>
        </p:spPr>
        <p:txBody>
          <a:bodyPr wrap="none">
            <a:spAutoFit/>
          </a:bodyPr>
          <a:lstStyle/>
          <a:p>
            <a:pPr algn="l"/>
            <a:r>
              <a:rPr sz="1200" b="1">
                <a:solidFill>
                  <a:srgbClr val="2DD4BF"/>
                </a:solidFill>
                <a:latin typeface="Calibri"/>
              </a:rPr>
              <a:t>LIVE DEMO FOCUS</a:t>
            </a:r>
          </a:p>
        </p:txBody>
      </p:sp>
      <p:sp>
        <p:nvSpPr>
          <p:cNvPr id="31" name="TextBox 30"/>
          <p:cNvSpPr txBox="1"/>
          <p:nvPr/>
        </p:nvSpPr>
        <p:spPr>
          <a:xfrm>
            <a:off x="914400" y="5166360"/>
            <a:ext cx="10241280" cy="640080"/>
          </a:xfrm>
          <a:prstGeom prst="rect">
            <a:avLst/>
          </a:prstGeom>
          <a:noFill/>
        </p:spPr>
        <p:txBody>
          <a:bodyPr wrap="none">
            <a:spAutoFit/>
          </a:bodyPr>
          <a:lstStyle/>
          <a:p>
            <a:pPr algn="l"/>
            <a:r>
              <a:rPr sz="1800" b="1">
                <a:solidFill>
                  <a:srgbClr val="F8FAFC"/>
                </a:solidFill>
                <a:latin typeface="Calibri"/>
              </a:rPr>
              <a:t>System Flow  -&gt;  Knowledge Import  -&gt;  Agentic Analysis  -&gt;  Results  -&gt;  BDD Export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590</Words>
  <Application>Microsoft Office PowerPoint</Application>
  <PresentationFormat>Widescreen</PresentationFormat>
  <Paragraphs>93</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Viraj Dhruve</cp:lastModifiedBy>
  <cp:revision>2</cp:revision>
  <dcterms:created xsi:type="dcterms:W3CDTF">2013-01-27T09:14:16Z</dcterms:created>
  <dcterms:modified xsi:type="dcterms:W3CDTF">2026-08-05T12:38:37Z</dcterms:modified>
  <cp:category/>
</cp:coreProperties>
</file>