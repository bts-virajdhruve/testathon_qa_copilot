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14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182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Welcome the audience. Introduce Agentic QA Copilot as a live demo of an evidence-backed QA assistant. Emphasize that it understands product flow, fuses project knowledge, and uses agents to generate, review, and improve test coverage - not just prompt-based generation.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Explain that normal prompt-based test generation is not enough because it does not understand product structure. Call out the three gaps: generic tests, scattered context, and weak coverage visibility. Set up the need for graph + knowledge-aware agents.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Walk through the architecture simply: the system flow graph plus knowledge sources feed Graph RAG and Vector RAG. Context Fusion merges both, then QA agents use that rich context to generate and refine outputs. Graph RAG understands structure; Vector RAG retrieves documents; together they enable evidence-backed QA.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Walk through the nine steps as the demo path. Emphasize the closed agent loop: generate, review, fix, cover, export. Highlight the breadth of outputs: tests, BDD, automation feasibility, coverage gaps, and evidence traces. Keep it light; the live demo will show these in action.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Close with the four differentiators: context-aware, evidence-backed, closed-loop coverage, and automation-ready planning. Then transition into the live demo using the focus path: System Flow -&gt; Knowledge Import -&gt; Agentic Analysis -&gt; Results -&gt; BDD Export.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realistic expectations. The demo proves the core workflow: graph-based context, knowledge retrieval, AI generation, review, coverage gap detection, and evidence-backed outputs. The current limitations are mainly around production hardening: input completeness, modeled coverage boundaries, human approval, enterprise integrations, and runtime governance. These are exactly the areas planned for future roadmap expansion.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1627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lide1_hero.png"/>
          <p:cNvPicPr>
            <a:picLocks noChangeAspect="1"/>
          </p:cNvPicPr>
          <p:nvPr/>
        </p:nvPicPr>
        <p:blipFill>
          <a:blip r:embed="rId3"/>
          <a:stretch>
            <a:fillRect/>
          </a:stretch>
        </p:blipFill>
        <p:spPr>
          <a:xfrm>
            <a:off x="0" y="0"/>
            <a:ext cx="12191695" cy="6858000"/>
          </a:xfrm>
          <a:prstGeom prst="rect">
            <a:avLst/>
          </a:prstGeom>
        </p:spPr>
      </p:pic>
      <p:sp>
        <p:nvSpPr>
          <p:cNvPr id="6" name="Rectangle 5"/>
          <p:cNvSpPr/>
          <p:nvPr/>
        </p:nvSpPr>
        <p:spPr>
          <a:xfrm>
            <a:off x="0" y="0"/>
            <a:ext cx="12191695" cy="685800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417320"/>
            <a:ext cx="7315200" cy="365760"/>
          </a:xfrm>
          <a:prstGeom prst="rect">
            <a:avLst/>
          </a:prstGeom>
          <a:noFill/>
        </p:spPr>
        <p:txBody>
          <a:bodyPr wrap="none">
            <a:spAutoFit/>
          </a:bodyPr>
          <a:lstStyle/>
          <a:p>
            <a:pPr algn="l"/>
            <a:r>
              <a:rPr sz="1300" b="1">
                <a:solidFill>
                  <a:srgbClr val="2DD4BF"/>
                </a:solidFill>
                <a:latin typeface="Calibri"/>
              </a:rPr>
              <a:t>LIVE DEMO</a:t>
            </a:r>
          </a:p>
        </p:txBody>
      </p:sp>
      <p:sp>
        <p:nvSpPr>
          <p:cNvPr id="9" name="TextBox 8"/>
          <p:cNvSpPr txBox="1"/>
          <p:nvPr/>
        </p:nvSpPr>
        <p:spPr>
          <a:xfrm>
            <a:off x="822960" y="1828800"/>
            <a:ext cx="10515600" cy="1005840"/>
          </a:xfrm>
          <a:prstGeom prst="rect">
            <a:avLst/>
          </a:prstGeom>
          <a:noFill/>
        </p:spPr>
        <p:txBody>
          <a:bodyPr wrap="none">
            <a:spAutoFit/>
          </a:bodyPr>
          <a:lstStyle/>
          <a:p>
            <a:pPr algn="l"/>
            <a:r>
              <a:rPr sz="4800" b="1">
                <a:solidFill>
                  <a:srgbClr val="F8FAFC"/>
                </a:solidFill>
                <a:latin typeface="Calibri"/>
              </a:rPr>
              <a:t>Agentic QA Copilot</a:t>
            </a:r>
          </a:p>
        </p:txBody>
      </p:sp>
      <p:sp>
        <p:nvSpPr>
          <p:cNvPr id="10" name="TextBox 9"/>
          <p:cNvSpPr txBox="1"/>
          <p:nvPr/>
        </p:nvSpPr>
        <p:spPr>
          <a:xfrm>
            <a:off x="822960" y="2880360"/>
            <a:ext cx="10058400" cy="502920"/>
          </a:xfrm>
          <a:prstGeom prst="rect">
            <a:avLst/>
          </a:prstGeom>
          <a:noFill/>
        </p:spPr>
        <p:txBody>
          <a:bodyPr wrap="none">
            <a:spAutoFit/>
          </a:bodyPr>
          <a:lstStyle/>
          <a:p>
            <a:pPr algn="l"/>
            <a:r>
              <a:rPr sz="2000" b="0">
                <a:solidFill>
                  <a:srgbClr val="38BDF8"/>
                </a:solidFill>
                <a:latin typeface="Calibri"/>
              </a:rPr>
              <a:t>Graph RAG + Vector RAG + AI Agents for Evidence-Backed QA</a:t>
            </a:r>
          </a:p>
        </p:txBody>
      </p:sp>
      <p:sp>
        <p:nvSpPr>
          <p:cNvPr id="11" name="Rectangle 10"/>
          <p:cNvSpPr/>
          <p:nvPr/>
        </p:nvSpPr>
        <p:spPr>
          <a:xfrm>
            <a:off x="822960" y="3520440"/>
            <a:ext cx="2011680" cy="54864"/>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794760"/>
            <a:ext cx="6541214" cy="1826141"/>
          </a:xfrm>
          <a:prstGeom prst="rect">
            <a:avLst/>
          </a:prstGeom>
          <a:noFill/>
        </p:spPr>
        <p:txBody>
          <a:bodyPr wrap="none">
            <a:spAutoFit/>
          </a:bodyPr>
          <a:lstStyle/>
          <a:p>
            <a:pPr algn="l"/>
            <a:r>
              <a:rPr sz="1600" b="0" dirty="0">
                <a:solidFill>
                  <a:srgbClr val="CBD5E1"/>
                </a:solidFill>
                <a:latin typeface="Calibri"/>
              </a:rPr>
              <a:t>A QA assistant that understands the software flow, reads project knowledge,</a:t>
            </a:r>
          </a:p>
          <a:p>
            <a:pPr algn="l">
              <a:spcBef>
                <a:spcPts val="400"/>
              </a:spcBef>
              <a:spcAft>
                <a:spcPts val="0"/>
              </a:spcAft>
            </a:pPr>
            <a:r>
              <a:rPr sz="1600" b="0" dirty="0">
                <a:solidFill>
                  <a:srgbClr val="CBD5E1"/>
                </a:solidFill>
                <a:latin typeface="Calibri"/>
              </a:rPr>
              <a:t>generates test coverage, reviews gaps, and improves the suite automatically.</a:t>
            </a:r>
            <a:endParaRPr lang="en-IN" sz="1600" b="0" dirty="0">
              <a:solidFill>
                <a:srgbClr val="CBD5E1"/>
              </a:solidFill>
              <a:latin typeface="Calibri"/>
            </a:endParaRPr>
          </a:p>
          <a:p>
            <a:pPr algn="l">
              <a:spcBef>
                <a:spcPts val="400"/>
              </a:spcBef>
              <a:spcAft>
                <a:spcPts val="0"/>
              </a:spcAft>
            </a:pPr>
            <a:endParaRPr lang="en-IN" sz="1600" dirty="0">
              <a:solidFill>
                <a:srgbClr val="CBD5E1"/>
              </a:solidFill>
              <a:latin typeface="Calibri"/>
            </a:endParaRPr>
          </a:p>
          <a:p>
            <a:pPr algn="l">
              <a:spcBef>
                <a:spcPts val="400"/>
              </a:spcBef>
              <a:spcAft>
                <a:spcPts val="0"/>
              </a:spcAft>
            </a:pPr>
            <a:endParaRPr lang="en-IN" sz="1600" b="0" dirty="0">
              <a:solidFill>
                <a:srgbClr val="CBD5E1"/>
              </a:solidFill>
              <a:latin typeface="Calibri"/>
            </a:endParaRPr>
          </a:p>
          <a:p>
            <a:pPr algn="l">
              <a:spcBef>
                <a:spcPts val="400"/>
              </a:spcBef>
              <a:spcAft>
                <a:spcPts val="0"/>
              </a:spcAft>
            </a:pPr>
            <a:r>
              <a:rPr lang="en-IN" sz="1600" dirty="0">
                <a:solidFill>
                  <a:srgbClr val="CBD5E1"/>
                </a:solidFill>
                <a:latin typeface="Calibri"/>
              </a:rPr>
              <a:t>Viraj Dhruve</a:t>
            </a:r>
          </a:p>
          <a:p>
            <a:pPr algn="l">
              <a:spcBef>
                <a:spcPts val="400"/>
              </a:spcBef>
              <a:spcAft>
                <a:spcPts val="0"/>
              </a:spcAft>
            </a:pPr>
            <a:r>
              <a:rPr lang="en-IN" sz="1600" dirty="0">
                <a:solidFill>
                  <a:srgbClr val="CBD5E1"/>
                </a:solidFill>
                <a:latin typeface="Calibri"/>
              </a:rPr>
              <a:t>Omkar Gaikwad</a:t>
            </a:r>
          </a:p>
        </p:txBody>
      </p:sp>
      <p:sp>
        <p:nvSpPr>
          <p:cNvPr id="13" name="Rounded Rectangle 12"/>
          <p:cNvSpPr/>
          <p:nvPr/>
        </p:nvSpPr>
        <p:spPr>
          <a:xfrm>
            <a:off x="822960" y="5806440"/>
            <a:ext cx="2194560" cy="384048"/>
          </a:xfrm>
          <a:prstGeom prst="roundRect">
            <a:avLst>
              <a:gd name="adj" fmla="val 50000"/>
            </a:avLst>
          </a:prstGeom>
          <a:solidFill>
            <a:srgbClr val="121A2B"/>
          </a:solidFill>
          <a:ln w="15875">
            <a:solidFill>
              <a:srgbClr val="121A2B"/>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2DD4BF"/>
                </a:solidFill>
                <a:latin typeface="Calibri"/>
              </a:rPr>
              <a:t>System Flow Graph</a:t>
            </a:r>
          </a:p>
        </p:txBody>
      </p:sp>
      <p:sp>
        <p:nvSpPr>
          <p:cNvPr id="14" name="Rounded Rectangle 13"/>
          <p:cNvSpPr/>
          <p:nvPr/>
        </p:nvSpPr>
        <p:spPr>
          <a:xfrm>
            <a:off x="3200400" y="5806440"/>
            <a:ext cx="2194560" cy="384048"/>
          </a:xfrm>
          <a:prstGeom prst="roundRect">
            <a:avLst>
              <a:gd name="adj" fmla="val 50000"/>
            </a:avLst>
          </a:prstGeom>
          <a:solidFill>
            <a:srgbClr val="121A2B"/>
          </a:solidFill>
          <a:ln w="15875">
            <a:solidFill>
              <a:srgbClr val="121A2B"/>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38BDF8"/>
                </a:solidFill>
                <a:latin typeface="Calibri"/>
              </a:rPr>
              <a:t>Knowledge Fusion</a:t>
            </a:r>
          </a:p>
        </p:txBody>
      </p:sp>
      <p:sp>
        <p:nvSpPr>
          <p:cNvPr id="15" name="Rounded Rectangle 14"/>
          <p:cNvSpPr/>
          <p:nvPr/>
        </p:nvSpPr>
        <p:spPr>
          <a:xfrm>
            <a:off x="5577840" y="5806440"/>
            <a:ext cx="2194560" cy="384048"/>
          </a:xfrm>
          <a:prstGeom prst="roundRect">
            <a:avLst>
              <a:gd name="adj" fmla="val 50000"/>
            </a:avLst>
          </a:prstGeom>
          <a:solidFill>
            <a:srgbClr val="121A2B"/>
          </a:solidFill>
          <a:ln w="15875">
            <a:solidFill>
              <a:srgbClr val="121A2B"/>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A78BFA"/>
                </a:solidFill>
                <a:latin typeface="Calibri"/>
              </a:rPr>
              <a:t>Agentic Coverage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lide2_hero.png"/>
          <p:cNvPicPr>
            <a:picLocks noChangeAspect="1"/>
          </p:cNvPicPr>
          <p:nvPr/>
        </p:nvPicPr>
        <p:blipFill>
          <a:blip r:embed="rId3"/>
          <a:stretch>
            <a:fillRect/>
          </a:stretch>
        </p:blipFill>
        <p:spPr>
          <a:xfrm>
            <a:off x="7498079" y="1097280"/>
            <a:ext cx="4297680" cy="5029200"/>
          </a:xfrm>
          <a:prstGeom prst="rect">
            <a:avLst/>
          </a:prstGeom>
        </p:spPr>
      </p:pic>
      <p:sp>
        <p:nvSpPr>
          <p:cNvPr id="6" name="Rectangle 5"/>
          <p:cNvSpPr/>
          <p:nvPr/>
        </p:nvSpPr>
        <p:spPr>
          <a:xfrm>
            <a:off x="7498079" y="1097280"/>
            <a:ext cx="4297680" cy="502920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498079" y="1097280"/>
            <a:ext cx="4297680" cy="5029200"/>
          </a:xfrm>
          <a:prstGeom prst="roundRect">
            <a:avLst>
              <a:gd name="adj" fmla="val 4000"/>
            </a:avLst>
          </a:prstGeom>
          <a:noFill/>
          <a:ln w="19050">
            <a:solidFill>
              <a:srgbClr val="334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411480"/>
            <a:ext cx="10972800" cy="640080"/>
          </a:xfrm>
          <a:prstGeom prst="rect">
            <a:avLst/>
          </a:prstGeom>
          <a:noFill/>
        </p:spPr>
        <p:txBody>
          <a:bodyPr wrap="none">
            <a:spAutoFit/>
          </a:bodyPr>
          <a:lstStyle/>
          <a:p>
            <a:pPr algn="l"/>
            <a:r>
              <a:rPr sz="2800" b="1">
                <a:solidFill>
                  <a:srgbClr val="F8FAFC"/>
                </a:solidFill>
                <a:latin typeface="Calibri"/>
              </a:rPr>
              <a:t>Why Traditional AI Test Generation Falls Short</a:t>
            </a:r>
          </a:p>
        </p:txBody>
      </p:sp>
      <p:sp>
        <p:nvSpPr>
          <p:cNvPr id="9" name="Rectangle 8"/>
          <p:cNvSpPr/>
          <p:nvPr/>
        </p:nvSpPr>
        <p:spPr>
          <a:xfrm>
            <a:off x="640080" y="1051560"/>
            <a:ext cx="16459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0080" y="1417320"/>
            <a:ext cx="649224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417320"/>
            <a:ext cx="73152" cy="13716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1673352"/>
            <a:ext cx="731520" cy="411480"/>
          </a:xfrm>
          <a:prstGeom prst="rect">
            <a:avLst/>
          </a:prstGeom>
          <a:noFill/>
        </p:spPr>
        <p:txBody>
          <a:bodyPr wrap="none">
            <a:spAutoFit/>
          </a:bodyPr>
          <a:lstStyle/>
          <a:p>
            <a:pPr algn="l"/>
            <a:r>
              <a:rPr sz="2200" b="1">
                <a:solidFill>
                  <a:srgbClr val="F87171"/>
                </a:solidFill>
                <a:latin typeface="Calibri"/>
              </a:rPr>
              <a:t>01</a:t>
            </a:r>
          </a:p>
        </p:txBody>
      </p:sp>
      <p:sp>
        <p:nvSpPr>
          <p:cNvPr id="13" name="TextBox 12"/>
          <p:cNvSpPr txBox="1"/>
          <p:nvPr/>
        </p:nvSpPr>
        <p:spPr>
          <a:xfrm>
            <a:off x="1645920" y="1673352"/>
            <a:ext cx="5120640" cy="365760"/>
          </a:xfrm>
          <a:prstGeom prst="rect">
            <a:avLst/>
          </a:prstGeom>
          <a:noFill/>
        </p:spPr>
        <p:txBody>
          <a:bodyPr wrap="none">
            <a:spAutoFit/>
          </a:bodyPr>
          <a:lstStyle/>
          <a:p>
            <a:pPr algn="l"/>
            <a:r>
              <a:rPr sz="1800" b="1">
                <a:solidFill>
                  <a:srgbClr val="F8FAFC"/>
                </a:solidFill>
                <a:latin typeface="Calibri"/>
              </a:rPr>
              <a:t>Generic test cases</a:t>
            </a:r>
          </a:p>
        </p:txBody>
      </p:sp>
      <p:sp>
        <p:nvSpPr>
          <p:cNvPr id="14" name="TextBox 13"/>
          <p:cNvSpPr txBox="1"/>
          <p:nvPr/>
        </p:nvSpPr>
        <p:spPr>
          <a:xfrm>
            <a:off x="1645920" y="2075688"/>
            <a:ext cx="4890506" cy="492443"/>
          </a:xfrm>
          <a:prstGeom prst="rect">
            <a:avLst/>
          </a:prstGeom>
          <a:noFill/>
        </p:spPr>
        <p:txBody>
          <a:bodyPr wrap="none">
            <a:spAutoFit/>
          </a:bodyPr>
          <a:lstStyle/>
          <a:p>
            <a:pPr algn="l"/>
            <a:r>
              <a:rPr sz="1300" b="0" dirty="0">
                <a:solidFill>
                  <a:srgbClr val="94A3B8"/>
                </a:solidFill>
                <a:latin typeface="Calibri"/>
              </a:rPr>
              <a:t>AI tools often generate broad tests without understanding the actual </a:t>
            </a:r>
            <a:endParaRPr lang="en-IN" sz="1300" b="0" dirty="0">
              <a:solidFill>
                <a:srgbClr val="94A3B8"/>
              </a:solidFill>
              <a:latin typeface="Calibri"/>
            </a:endParaRPr>
          </a:p>
          <a:p>
            <a:pPr algn="l"/>
            <a:r>
              <a:rPr sz="1300" b="0" dirty="0">
                <a:solidFill>
                  <a:srgbClr val="94A3B8"/>
                </a:solidFill>
                <a:latin typeface="Calibri"/>
              </a:rPr>
              <a:t>product flow.</a:t>
            </a:r>
          </a:p>
        </p:txBody>
      </p:sp>
      <p:sp>
        <p:nvSpPr>
          <p:cNvPr id="15" name="Rounded Rectangle 14"/>
          <p:cNvSpPr/>
          <p:nvPr/>
        </p:nvSpPr>
        <p:spPr>
          <a:xfrm>
            <a:off x="640080" y="2971800"/>
            <a:ext cx="649224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2971800"/>
            <a:ext cx="73152"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227832"/>
            <a:ext cx="731520" cy="411480"/>
          </a:xfrm>
          <a:prstGeom prst="rect">
            <a:avLst/>
          </a:prstGeom>
          <a:noFill/>
        </p:spPr>
        <p:txBody>
          <a:bodyPr wrap="none">
            <a:spAutoFit/>
          </a:bodyPr>
          <a:lstStyle/>
          <a:p>
            <a:pPr algn="l"/>
            <a:r>
              <a:rPr sz="2200" b="1">
                <a:solidFill>
                  <a:srgbClr val="F59E0B"/>
                </a:solidFill>
                <a:latin typeface="Calibri"/>
              </a:rPr>
              <a:t>02</a:t>
            </a:r>
          </a:p>
        </p:txBody>
      </p:sp>
      <p:sp>
        <p:nvSpPr>
          <p:cNvPr id="18" name="TextBox 17"/>
          <p:cNvSpPr txBox="1"/>
          <p:nvPr/>
        </p:nvSpPr>
        <p:spPr>
          <a:xfrm>
            <a:off x="1645920" y="3227832"/>
            <a:ext cx="5120640" cy="365760"/>
          </a:xfrm>
          <a:prstGeom prst="rect">
            <a:avLst/>
          </a:prstGeom>
          <a:noFill/>
        </p:spPr>
        <p:txBody>
          <a:bodyPr wrap="none">
            <a:spAutoFit/>
          </a:bodyPr>
          <a:lstStyle/>
          <a:p>
            <a:pPr algn="l"/>
            <a:r>
              <a:rPr sz="1800" b="1">
                <a:solidFill>
                  <a:srgbClr val="F8FAFC"/>
                </a:solidFill>
                <a:latin typeface="Calibri"/>
              </a:rPr>
              <a:t>Missing business context</a:t>
            </a:r>
          </a:p>
        </p:txBody>
      </p:sp>
      <p:sp>
        <p:nvSpPr>
          <p:cNvPr id="19" name="TextBox 18"/>
          <p:cNvSpPr txBox="1"/>
          <p:nvPr/>
        </p:nvSpPr>
        <p:spPr>
          <a:xfrm>
            <a:off x="1645920" y="3630168"/>
            <a:ext cx="5397760" cy="492443"/>
          </a:xfrm>
          <a:prstGeom prst="rect">
            <a:avLst/>
          </a:prstGeom>
          <a:noFill/>
        </p:spPr>
        <p:txBody>
          <a:bodyPr wrap="none">
            <a:spAutoFit/>
          </a:bodyPr>
          <a:lstStyle/>
          <a:p>
            <a:pPr algn="l"/>
            <a:r>
              <a:rPr sz="1300" b="0" dirty="0">
                <a:solidFill>
                  <a:srgbClr val="94A3B8"/>
                </a:solidFill>
                <a:latin typeface="Calibri"/>
              </a:rPr>
              <a:t>Requirements, bugs, risks, and existing tests are scattered across documents </a:t>
            </a:r>
            <a:endParaRPr lang="en-IN" sz="1300" b="0" dirty="0">
              <a:solidFill>
                <a:srgbClr val="94A3B8"/>
              </a:solidFill>
              <a:latin typeface="Calibri"/>
            </a:endParaRPr>
          </a:p>
          <a:p>
            <a:pPr algn="l"/>
            <a:r>
              <a:rPr sz="1300" b="0" dirty="0">
                <a:solidFill>
                  <a:srgbClr val="94A3B8"/>
                </a:solidFill>
                <a:latin typeface="Calibri"/>
              </a:rPr>
              <a:t>and tools.</a:t>
            </a:r>
          </a:p>
        </p:txBody>
      </p:sp>
      <p:sp>
        <p:nvSpPr>
          <p:cNvPr id="20" name="Rounded Rectangle 19"/>
          <p:cNvSpPr/>
          <p:nvPr/>
        </p:nvSpPr>
        <p:spPr>
          <a:xfrm>
            <a:off x="640080" y="4526280"/>
            <a:ext cx="649224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4526280"/>
            <a:ext cx="73152" cy="137160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782312"/>
            <a:ext cx="731520" cy="411480"/>
          </a:xfrm>
          <a:prstGeom prst="rect">
            <a:avLst/>
          </a:prstGeom>
          <a:noFill/>
        </p:spPr>
        <p:txBody>
          <a:bodyPr wrap="none">
            <a:spAutoFit/>
          </a:bodyPr>
          <a:lstStyle/>
          <a:p>
            <a:pPr algn="l"/>
            <a:r>
              <a:rPr sz="2200" b="1">
                <a:solidFill>
                  <a:srgbClr val="F5C542"/>
                </a:solidFill>
                <a:latin typeface="Calibri"/>
              </a:rPr>
              <a:t>03</a:t>
            </a:r>
          </a:p>
        </p:txBody>
      </p:sp>
      <p:sp>
        <p:nvSpPr>
          <p:cNvPr id="23" name="TextBox 22"/>
          <p:cNvSpPr txBox="1"/>
          <p:nvPr/>
        </p:nvSpPr>
        <p:spPr>
          <a:xfrm>
            <a:off x="1645920" y="4782312"/>
            <a:ext cx="5120640" cy="365760"/>
          </a:xfrm>
          <a:prstGeom prst="rect">
            <a:avLst/>
          </a:prstGeom>
          <a:noFill/>
        </p:spPr>
        <p:txBody>
          <a:bodyPr wrap="none">
            <a:spAutoFit/>
          </a:bodyPr>
          <a:lstStyle/>
          <a:p>
            <a:pPr algn="l"/>
            <a:r>
              <a:rPr sz="1800" b="1">
                <a:solidFill>
                  <a:srgbClr val="F8FAFC"/>
                </a:solidFill>
                <a:latin typeface="Calibri"/>
              </a:rPr>
              <a:t>Weak coverage visibility</a:t>
            </a:r>
          </a:p>
        </p:txBody>
      </p:sp>
      <p:sp>
        <p:nvSpPr>
          <p:cNvPr id="24" name="TextBox 23"/>
          <p:cNvSpPr txBox="1"/>
          <p:nvPr/>
        </p:nvSpPr>
        <p:spPr>
          <a:xfrm>
            <a:off x="1645920" y="5184648"/>
            <a:ext cx="5349991" cy="492443"/>
          </a:xfrm>
          <a:prstGeom prst="rect">
            <a:avLst/>
          </a:prstGeom>
          <a:noFill/>
        </p:spPr>
        <p:txBody>
          <a:bodyPr wrap="none">
            <a:spAutoFit/>
          </a:bodyPr>
          <a:lstStyle/>
          <a:p>
            <a:pPr algn="l"/>
            <a:r>
              <a:rPr sz="1300" b="0" dirty="0">
                <a:solidFill>
                  <a:srgbClr val="94A3B8"/>
                </a:solidFill>
                <a:latin typeface="Calibri"/>
              </a:rPr>
              <a:t>QA teams struggle to see what is covered, what is missing, and what should </a:t>
            </a:r>
            <a:endParaRPr lang="en-IN" sz="1300" b="0" dirty="0">
              <a:solidFill>
                <a:srgbClr val="94A3B8"/>
              </a:solidFill>
              <a:latin typeface="Calibri"/>
            </a:endParaRPr>
          </a:p>
          <a:p>
            <a:pPr algn="l"/>
            <a:r>
              <a:rPr sz="1300" b="0" dirty="0">
                <a:solidFill>
                  <a:srgbClr val="94A3B8"/>
                </a:solidFill>
                <a:latin typeface="Calibri"/>
              </a:rPr>
              <a:t>be tested next.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320040"/>
            <a:ext cx="10972800" cy="548640"/>
          </a:xfrm>
          <a:prstGeom prst="rect">
            <a:avLst/>
          </a:prstGeom>
          <a:noFill/>
        </p:spPr>
        <p:txBody>
          <a:bodyPr wrap="none">
            <a:spAutoFit/>
          </a:bodyPr>
          <a:lstStyle/>
          <a:p>
            <a:pPr algn="l"/>
            <a:r>
              <a:rPr sz="2800" b="1">
                <a:solidFill>
                  <a:srgbClr val="F8FAFC"/>
                </a:solidFill>
                <a:latin typeface="Calibri"/>
              </a:rPr>
              <a:t>How Our QA Copilot Understands the Product</a:t>
            </a:r>
          </a:p>
        </p:txBody>
      </p:sp>
      <p:sp>
        <p:nvSpPr>
          <p:cNvPr id="6" name="Rectangle 5"/>
          <p:cNvSpPr/>
          <p:nvPr/>
        </p:nvSpPr>
        <p:spPr>
          <a:xfrm>
            <a:off x="640080" y="914400"/>
            <a:ext cx="1645920" cy="457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3_hero.png"/>
          <p:cNvPicPr>
            <a:picLocks noChangeAspect="1"/>
          </p:cNvPicPr>
          <p:nvPr/>
        </p:nvPicPr>
        <p:blipFill>
          <a:blip r:embed="rId3"/>
          <a:stretch>
            <a:fillRect/>
          </a:stretch>
        </p:blipFill>
        <p:spPr>
          <a:xfrm>
            <a:off x="7680960" y="1143000"/>
            <a:ext cx="4114800" cy="2926080"/>
          </a:xfrm>
          <a:prstGeom prst="rect">
            <a:avLst/>
          </a:prstGeom>
        </p:spPr>
      </p:pic>
      <p:sp>
        <p:nvSpPr>
          <p:cNvPr id="8" name="Rectangle 7"/>
          <p:cNvSpPr/>
          <p:nvPr/>
        </p:nvSpPr>
        <p:spPr>
          <a:xfrm>
            <a:off x="7680960" y="1143000"/>
            <a:ext cx="4114800" cy="292608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234440"/>
            <a:ext cx="2103120" cy="640080"/>
          </a:xfrm>
          <a:prstGeom prst="roundRect">
            <a:avLst>
              <a:gd name="adj" fmla="val 8000"/>
            </a:avLst>
          </a:prstGeom>
          <a:solidFill>
            <a:srgbClr val="1A2438"/>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200" b="1">
                <a:solidFill>
                  <a:srgbClr val="2DD4BF"/>
                </a:solidFill>
                <a:latin typeface="Calibri"/>
              </a:rPr>
              <a:t>System Flow Graph</a:t>
            </a:r>
          </a:p>
        </p:txBody>
      </p:sp>
      <p:sp>
        <p:nvSpPr>
          <p:cNvPr id="10" name="Rounded Rectangle 9"/>
          <p:cNvSpPr/>
          <p:nvPr/>
        </p:nvSpPr>
        <p:spPr>
          <a:xfrm>
            <a:off x="2880360" y="1234440"/>
            <a:ext cx="2103120" cy="640080"/>
          </a:xfrm>
          <a:prstGeom prst="roundRect">
            <a:avLst>
              <a:gd name="adj" fmla="val 8000"/>
            </a:avLst>
          </a:prstGeom>
          <a:solidFill>
            <a:srgbClr val="1A2438"/>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200" b="1">
                <a:solidFill>
                  <a:srgbClr val="38BDF8"/>
                </a:solidFill>
                <a:latin typeface="Calibri"/>
              </a:rPr>
              <a:t>Knowledge Base</a:t>
            </a:r>
          </a:p>
        </p:txBody>
      </p:sp>
      <p:sp>
        <p:nvSpPr>
          <p:cNvPr id="11" name="Rounded Rectangle 10"/>
          <p:cNvSpPr/>
          <p:nvPr/>
        </p:nvSpPr>
        <p:spPr>
          <a:xfrm>
            <a:off x="5120640" y="1234440"/>
            <a:ext cx="2103120" cy="640080"/>
          </a:xfrm>
          <a:prstGeom prst="roundRect">
            <a:avLst>
              <a:gd name="adj" fmla="val 8000"/>
            </a:avLst>
          </a:prstGeom>
          <a:solidFill>
            <a:srgbClr val="1A2438"/>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200" b="1">
                <a:solidFill>
                  <a:srgbClr val="A78BFA"/>
                </a:solidFill>
                <a:latin typeface="Calibri"/>
              </a:rPr>
              <a:t>Jira / Confluence</a:t>
            </a:r>
          </a:p>
        </p:txBody>
      </p:sp>
      <p:sp>
        <p:nvSpPr>
          <p:cNvPr id="12" name="TextBox 11"/>
          <p:cNvSpPr txBox="1"/>
          <p:nvPr/>
        </p:nvSpPr>
        <p:spPr>
          <a:xfrm>
            <a:off x="3291840" y="1920240"/>
            <a:ext cx="1828800" cy="320040"/>
          </a:xfrm>
          <a:prstGeom prst="rect">
            <a:avLst/>
          </a:prstGeom>
          <a:noFill/>
        </p:spPr>
        <p:txBody>
          <a:bodyPr wrap="none">
            <a:spAutoFit/>
          </a:bodyPr>
          <a:lstStyle/>
          <a:p>
            <a:pPr algn="ctr"/>
            <a:r>
              <a:rPr sz="1400" b="0">
                <a:solidFill>
                  <a:srgbClr val="94A3B8"/>
                </a:solidFill>
                <a:latin typeface="Calibri"/>
              </a:rPr>
              <a:t>v</a:t>
            </a:r>
          </a:p>
        </p:txBody>
      </p:sp>
      <p:sp>
        <p:nvSpPr>
          <p:cNvPr id="13" name="Rounded Rectangle 12"/>
          <p:cNvSpPr/>
          <p:nvPr/>
        </p:nvSpPr>
        <p:spPr>
          <a:xfrm>
            <a:off x="1463040" y="2240280"/>
            <a:ext cx="5303520" cy="640080"/>
          </a:xfrm>
          <a:prstGeom prst="roundRect">
            <a:avLst>
              <a:gd name="adj" fmla="val 8000"/>
            </a:avLst>
          </a:prstGeom>
          <a:solidFill>
            <a:srgbClr val="122A3A"/>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600" b="1">
                <a:solidFill>
                  <a:srgbClr val="2DD4BF"/>
                </a:solidFill>
                <a:latin typeface="Calibri"/>
              </a:rPr>
              <a:t>Graph RAG  +  Vector RAG</a:t>
            </a:r>
          </a:p>
        </p:txBody>
      </p:sp>
      <p:sp>
        <p:nvSpPr>
          <p:cNvPr id="14" name="TextBox 13"/>
          <p:cNvSpPr txBox="1"/>
          <p:nvPr/>
        </p:nvSpPr>
        <p:spPr>
          <a:xfrm>
            <a:off x="3291840" y="2926080"/>
            <a:ext cx="1828800" cy="320040"/>
          </a:xfrm>
          <a:prstGeom prst="rect">
            <a:avLst/>
          </a:prstGeom>
          <a:noFill/>
        </p:spPr>
        <p:txBody>
          <a:bodyPr wrap="none">
            <a:spAutoFit/>
          </a:bodyPr>
          <a:lstStyle/>
          <a:p>
            <a:pPr algn="ctr"/>
            <a:r>
              <a:rPr sz="1400" b="0">
                <a:solidFill>
                  <a:srgbClr val="94A3B8"/>
                </a:solidFill>
                <a:latin typeface="Calibri"/>
              </a:rPr>
              <a:t>v</a:t>
            </a:r>
          </a:p>
        </p:txBody>
      </p:sp>
      <p:sp>
        <p:nvSpPr>
          <p:cNvPr id="15" name="Rounded Rectangle 14"/>
          <p:cNvSpPr/>
          <p:nvPr/>
        </p:nvSpPr>
        <p:spPr>
          <a:xfrm>
            <a:off x="2011680" y="3246120"/>
            <a:ext cx="4206240" cy="640080"/>
          </a:xfrm>
          <a:prstGeom prst="roundRect">
            <a:avLst>
              <a:gd name="adj" fmla="val 8000"/>
            </a:avLst>
          </a:prstGeom>
          <a:solidFill>
            <a:srgbClr val="1A1835"/>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600" b="1">
                <a:solidFill>
                  <a:srgbClr val="A78BFA"/>
                </a:solidFill>
                <a:latin typeface="Calibri"/>
              </a:rPr>
              <a:t>Context Fusion</a:t>
            </a:r>
          </a:p>
        </p:txBody>
      </p:sp>
      <p:sp>
        <p:nvSpPr>
          <p:cNvPr id="16" name="TextBox 15"/>
          <p:cNvSpPr txBox="1"/>
          <p:nvPr/>
        </p:nvSpPr>
        <p:spPr>
          <a:xfrm>
            <a:off x="3291840" y="3931920"/>
            <a:ext cx="1828800" cy="320040"/>
          </a:xfrm>
          <a:prstGeom prst="rect">
            <a:avLst/>
          </a:prstGeom>
          <a:noFill/>
        </p:spPr>
        <p:txBody>
          <a:bodyPr wrap="none">
            <a:spAutoFit/>
          </a:bodyPr>
          <a:lstStyle/>
          <a:p>
            <a:pPr algn="ctr"/>
            <a:r>
              <a:rPr sz="1400" b="0">
                <a:solidFill>
                  <a:srgbClr val="94A3B8"/>
                </a:solidFill>
                <a:latin typeface="Calibri"/>
              </a:rPr>
              <a:t>v</a:t>
            </a:r>
          </a:p>
        </p:txBody>
      </p:sp>
      <p:sp>
        <p:nvSpPr>
          <p:cNvPr id="17" name="Rounded Rectangle 16"/>
          <p:cNvSpPr/>
          <p:nvPr/>
        </p:nvSpPr>
        <p:spPr>
          <a:xfrm>
            <a:off x="2377440" y="4251960"/>
            <a:ext cx="3474720" cy="640080"/>
          </a:xfrm>
          <a:prstGeom prst="roundRect">
            <a:avLst>
              <a:gd name="adj" fmla="val 8000"/>
            </a:avLst>
          </a:prstGeom>
          <a:solidFill>
            <a:srgbClr val="1A2A1F"/>
          </a:solidFill>
          <a:ln w="19050">
            <a:solidFill>
              <a:srgbClr val="F5C542"/>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600" b="1">
                <a:solidFill>
                  <a:srgbClr val="F5C542"/>
                </a:solidFill>
                <a:latin typeface="Calibri"/>
              </a:rPr>
              <a:t>QA Agents</a:t>
            </a:r>
          </a:p>
        </p:txBody>
      </p:sp>
      <p:sp>
        <p:nvSpPr>
          <p:cNvPr id="18" name="Oval 17"/>
          <p:cNvSpPr/>
          <p:nvPr/>
        </p:nvSpPr>
        <p:spPr>
          <a:xfrm>
            <a:off x="640080" y="5230368"/>
            <a:ext cx="164592" cy="16459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5120640"/>
            <a:ext cx="5029200" cy="274320"/>
          </a:xfrm>
          <a:prstGeom prst="rect">
            <a:avLst/>
          </a:prstGeom>
          <a:noFill/>
        </p:spPr>
        <p:txBody>
          <a:bodyPr wrap="none">
            <a:spAutoFit/>
          </a:bodyPr>
          <a:lstStyle/>
          <a:p>
            <a:pPr algn="l"/>
            <a:r>
              <a:rPr sz="1300" b="1">
                <a:solidFill>
                  <a:srgbClr val="F8FAFC"/>
                </a:solidFill>
                <a:latin typeface="Calibri"/>
              </a:rPr>
              <a:t>Graph RAG</a:t>
            </a:r>
          </a:p>
          <a:p>
            <a:pPr algn="l">
              <a:spcBef>
                <a:spcPts val="0"/>
              </a:spcBef>
              <a:spcAft>
                <a:spcPts val="0"/>
              </a:spcAft>
            </a:pPr>
            <a:r>
              <a:rPr sz="1100" b="0">
                <a:solidFill>
                  <a:srgbClr val="94A3B8"/>
                </a:solidFill>
                <a:latin typeface="Calibri"/>
              </a:rPr>
              <a:t>Workflows, branches, dependencies, failure paths</a:t>
            </a:r>
          </a:p>
        </p:txBody>
      </p:sp>
      <p:sp>
        <p:nvSpPr>
          <p:cNvPr id="20" name="Oval 19"/>
          <p:cNvSpPr/>
          <p:nvPr/>
        </p:nvSpPr>
        <p:spPr>
          <a:xfrm>
            <a:off x="6309360" y="5230368"/>
            <a:ext cx="164592" cy="164592"/>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5120640"/>
            <a:ext cx="5029200" cy="274320"/>
          </a:xfrm>
          <a:prstGeom prst="rect">
            <a:avLst/>
          </a:prstGeom>
          <a:noFill/>
        </p:spPr>
        <p:txBody>
          <a:bodyPr wrap="none">
            <a:spAutoFit/>
          </a:bodyPr>
          <a:lstStyle/>
          <a:p>
            <a:pPr algn="l"/>
            <a:r>
              <a:rPr sz="1300" b="1">
                <a:solidFill>
                  <a:srgbClr val="F8FAFC"/>
                </a:solidFill>
                <a:latin typeface="Calibri"/>
              </a:rPr>
              <a:t>Vector RAG</a:t>
            </a:r>
          </a:p>
          <a:p>
            <a:pPr algn="l">
              <a:spcBef>
                <a:spcPts val="0"/>
              </a:spcBef>
              <a:spcAft>
                <a:spcPts val="0"/>
              </a:spcAft>
            </a:pPr>
            <a:r>
              <a:rPr sz="1100" b="0">
                <a:solidFill>
                  <a:srgbClr val="94A3B8"/>
                </a:solidFill>
                <a:latin typeface="Calibri"/>
              </a:rPr>
              <a:t>Requirements, bugs, risks, and documents</a:t>
            </a:r>
          </a:p>
        </p:txBody>
      </p:sp>
      <p:sp>
        <p:nvSpPr>
          <p:cNvPr id="22" name="Oval 21"/>
          <p:cNvSpPr/>
          <p:nvPr/>
        </p:nvSpPr>
        <p:spPr>
          <a:xfrm>
            <a:off x="640080" y="5916168"/>
            <a:ext cx="164592" cy="16459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5806440"/>
            <a:ext cx="5029200" cy="274320"/>
          </a:xfrm>
          <a:prstGeom prst="rect">
            <a:avLst/>
          </a:prstGeom>
          <a:noFill/>
        </p:spPr>
        <p:txBody>
          <a:bodyPr wrap="none">
            <a:spAutoFit/>
          </a:bodyPr>
          <a:lstStyle/>
          <a:p>
            <a:pPr algn="l"/>
            <a:r>
              <a:rPr sz="1300" b="1">
                <a:solidFill>
                  <a:srgbClr val="F8FAFC"/>
                </a:solidFill>
                <a:latin typeface="Calibri"/>
              </a:rPr>
              <a:t>Context Fusion</a:t>
            </a:r>
          </a:p>
          <a:p>
            <a:pPr algn="l">
              <a:spcBef>
                <a:spcPts val="0"/>
              </a:spcBef>
              <a:spcAft>
                <a:spcPts val="0"/>
              </a:spcAft>
            </a:pPr>
            <a:r>
              <a:rPr sz="1100" b="0">
                <a:solidFill>
                  <a:srgbClr val="94A3B8"/>
                </a:solidFill>
                <a:latin typeface="Calibri"/>
              </a:rPr>
              <a:t>Combines both into high-quality prompt context</a:t>
            </a:r>
          </a:p>
        </p:txBody>
      </p:sp>
      <p:sp>
        <p:nvSpPr>
          <p:cNvPr id="24" name="Oval 23"/>
          <p:cNvSpPr/>
          <p:nvPr/>
        </p:nvSpPr>
        <p:spPr>
          <a:xfrm>
            <a:off x="6309360" y="5916168"/>
            <a:ext cx="164592" cy="164592"/>
          </a:xfrm>
          <a:prstGeom prst="ellipse">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29400" y="5806440"/>
            <a:ext cx="5029200" cy="274320"/>
          </a:xfrm>
          <a:prstGeom prst="rect">
            <a:avLst/>
          </a:prstGeom>
          <a:noFill/>
        </p:spPr>
        <p:txBody>
          <a:bodyPr wrap="none">
            <a:spAutoFit/>
          </a:bodyPr>
          <a:lstStyle/>
          <a:p>
            <a:pPr algn="l"/>
            <a:r>
              <a:rPr sz="1300" b="1">
                <a:solidFill>
                  <a:srgbClr val="F8FAFC"/>
                </a:solidFill>
                <a:latin typeface="Calibri"/>
              </a:rPr>
              <a:t>QA Agents</a:t>
            </a:r>
          </a:p>
          <a:p>
            <a:pPr algn="l">
              <a:spcBef>
                <a:spcPts val="0"/>
              </a:spcBef>
              <a:spcAft>
                <a:spcPts val="0"/>
              </a:spcAft>
            </a:pPr>
            <a:r>
              <a:rPr sz="1100" b="0">
                <a:solidFill>
                  <a:srgbClr val="94A3B8"/>
                </a:solidFill>
                <a:latin typeface="Calibri"/>
              </a:rPr>
              <a:t>Generate, review, and refine QA outputs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74320"/>
            <a:ext cx="10972800" cy="502920"/>
          </a:xfrm>
          <a:prstGeom prst="rect">
            <a:avLst/>
          </a:prstGeom>
          <a:noFill/>
        </p:spPr>
        <p:txBody>
          <a:bodyPr wrap="none">
            <a:spAutoFit/>
          </a:bodyPr>
          <a:lstStyle/>
          <a:p>
            <a:pPr algn="l"/>
            <a:r>
              <a:rPr sz="2800" b="1">
                <a:solidFill>
                  <a:srgbClr val="F8FAFC"/>
                </a:solidFill>
                <a:latin typeface="Calibri"/>
              </a:rPr>
              <a:t>From Input to Complete QA Output</a:t>
            </a:r>
          </a:p>
        </p:txBody>
      </p:sp>
      <p:sp>
        <p:nvSpPr>
          <p:cNvPr id="6" name="Rectangle 5"/>
          <p:cNvSpPr/>
          <p:nvPr/>
        </p:nvSpPr>
        <p:spPr>
          <a:xfrm>
            <a:off x="640080" y="822960"/>
            <a:ext cx="164592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4_hero.png"/>
          <p:cNvPicPr>
            <a:picLocks noChangeAspect="1"/>
          </p:cNvPicPr>
          <p:nvPr/>
        </p:nvPicPr>
        <p:blipFill>
          <a:blip r:embed="rId3"/>
          <a:stretch>
            <a:fillRect/>
          </a:stretch>
        </p:blipFill>
        <p:spPr>
          <a:xfrm>
            <a:off x="8229600" y="4206240"/>
            <a:ext cx="3657600" cy="2377440"/>
          </a:xfrm>
          <a:prstGeom prst="rect">
            <a:avLst/>
          </a:prstGeom>
        </p:spPr>
      </p:pic>
      <p:sp>
        <p:nvSpPr>
          <p:cNvPr id="8" name="Rectangle 7"/>
          <p:cNvSpPr/>
          <p:nvPr/>
        </p:nvSpPr>
        <p:spPr>
          <a:xfrm>
            <a:off x="8229600" y="4206240"/>
            <a:ext cx="3657600" cy="237744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09728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261872"/>
            <a:ext cx="365760" cy="365760"/>
          </a:xfrm>
          <a:prstGeom prst="rect">
            <a:avLst/>
          </a:prstGeom>
          <a:noFill/>
        </p:spPr>
        <p:txBody>
          <a:bodyPr wrap="none">
            <a:spAutoFit/>
          </a:bodyPr>
          <a:lstStyle/>
          <a:p>
            <a:pPr algn="l"/>
            <a:r>
              <a:rPr sz="1600" b="1">
                <a:solidFill>
                  <a:srgbClr val="38BDF8"/>
                </a:solidFill>
                <a:latin typeface="Calibri"/>
              </a:rPr>
              <a:t>1</a:t>
            </a:r>
          </a:p>
        </p:txBody>
      </p:sp>
      <p:sp>
        <p:nvSpPr>
          <p:cNvPr id="11" name="TextBox 10"/>
          <p:cNvSpPr txBox="1"/>
          <p:nvPr/>
        </p:nvSpPr>
        <p:spPr>
          <a:xfrm>
            <a:off x="1097280" y="1261872"/>
            <a:ext cx="1874519" cy="502920"/>
          </a:xfrm>
          <a:prstGeom prst="rect">
            <a:avLst/>
          </a:prstGeom>
          <a:noFill/>
        </p:spPr>
        <p:txBody>
          <a:bodyPr wrap="none">
            <a:spAutoFit/>
          </a:bodyPr>
          <a:lstStyle/>
          <a:p>
            <a:pPr algn="l"/>
            <a:r>
              <a:rPr sz="1200" b="0">
                <a:solidFill>
                  <a:srgbClr val="CBD5E1"/>
                </a:solidFill>
                <a:latin typeface="Calibri"/>
              </a:rPr>
              <a:t>Build system flow graph</a:t>
            </a:r>
          </a:p>
        </p:txBody>
      </p:sp>
      <p:sp>
        <p:nvSpPr>
          <p:cNvPr id="12" name="Rounded Rectangle 11"/>
          <p:cNvSpPr/>
          <p:nvPr/>
        </p:nvSpPr>
        <p:spPr>
          <a:xfrm>
            <a:off x="3246120" y="109728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0" y="1261872"/>
            <a:ext cx="365760" cy="365760"/>
          </a:xfrm>
          <a:prstGeom prst="rect">
            <a:avLst/>
          </a:prstGeom>
          <a:noFill/>
        </p:spPr>
        <p:txBody>
          <a:bodyPr wrap="none">
            <a:spAutoFit/>
          </a:bodyPr>
          <a:lstStyle/>
          <a:p>
            <a:pPr algn="l"/>
            <a:r>
              <a:rPr sz="1600" b="1">
                <a:solidFill>
                  <a:srgbClr val="38BDF8"/>
                </a:solidFill>
                <a:latin typeface="Calibri"/>
              </a:rPr>
              <a:t>2</a:t>
            </a:r>
          </a:p>
        </p:txBody>
      </p:sp>
      <p:sp>
        <p:nvSpPr>
          <p:cNvPr id="14" name="TextBox 13"/>
          <p:cNvSpPr txBox="1"/>
          <p:nvPr/>
        </p:nvSpPr>
        <p:spPr>
          <a:xfrm>
            <a:off x="3703320" y="1261872"/>
            <a:ext cx="1732334" cy="461665"/>
          </a:xfrm>
          <a:prstGeom prst="rect">
            <a:avLst/>
          </a:prstGeom>
          <a:noFill/>
        </p:spPr>
        <p:txBody>
          <a:bodyPr wrap="none">
            <a:spAutoFit/>
          </a:bodyPr>
          <a:lstStyle/>
          <a:p>
            <a:pPr algn="l"/>
            <a:r>
              <a:rPr sz="1200" b="0" dirty="0">
                <a:solidFill>
                  <a:srgbClr val="CBD5E1"/>
                </a:solidFill>
                <a:latin typeface="Calibri"/>
              </a:rPr>
              <a:t>Add knowledge / </a:t>
            </a:r>
            <a:endParaRPr lang="en-IN" sz="1200" b="0" dirty="0">
              <a:solidFill>
                <a:srgbClr val="CBD5E1"/>
              </a:solidFill>
              <a:latin typeface="Calibri"/>
            </a:endParaRPr>
          </a:p>
          <a:p>
            <a:pPr algn="l"/>
            <a:r>
              <a:rPr sz="1200" b="0" dirty="0">
                <a:solidFill>
                  <a:srgbClr val="CBD5E1"/>
                </a:solidFill>
                <a:latin typeface="Calibri"/>
              </a:rPr>
              <a:t>import Jira &amp; Confluence</a:t>
            </a:r>
          </a:p>
        </p:txBody>
      </p:sp>
      <p:sp>
        <p:nvSpPr>
          <p:cNvPr id="15" name="Rounded Rectangle 14"/>
          <p:cNvSpPr/>
          <p:nvPr/>
        </p:nvSpPr>
        <p:spPr>
          <a:xfrm>
            <a:off x="5852160" y="109728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89320" y="1261872"/>
            <a:ext cx="365760" cy="365760"/>
          </a:xfrm>
          <a:prstGeom prst="rect">
            <a:avLst/>
          </a:prstGeom>
          <a:noFill/>
        </p:spPr>
        <p:txBody>
          <a:bodyPr wrap="none">
            <a:spAutoFit/>
          </a:bodyPr>
          <a:lstStyle/>
          <a:p>
            <a:pPr algn="l"/>
            <a:r>
              <a:rPr sz="1600" b="1">
                <a:solidFill>
                  <a:srgbClr val="38BDF8"/>
                </a:solidFill>
                <a:latin typeface="Calibri"/>
              </a:rPr>
              <a:t>3</a:t>
            </a:r>
          </a:p>
        </p:txBody>
      </p:sp>
      <p:sp>
        <p:nvSpPr>
          <p:cNvPr id="17" name="TextBox 16"/>
          <p:cNvSpPr txBox="1"/>
          <p:nvPr/>
        </p:nvSpPr>
        <p:spPr>
          <a:xfrm>
            <a:off x="6309360" y="1261872"/>
            <a:ext cx="1874519" cy="502920"/>
          </a:xfrm>
          <a:prstGeom prst="rect">
            <a:avLst/>
          </a:prstGeom>
          <a:noFill/>
        </p:spPr>
        <p:txBody>
          <a:bodyPr wrap="none">
            <a:spAutoFit/>
          </a:bodyPr>
          <a:lstStyle/>
          <a:p>
            <a:pPr algn="l"/>
            <a:r>
              <a:rPr sz="1200" b="0">
                <a:solidFill>
                  <a:srgbClr val="CBD5E1"/>
                </a:solidFill>
                <a:latin typeface="Calibri"/>
              </a:rPr>
              <a:t>Run agentic analysis</a:t>
            </a:r>
          </a:p>
        </p:txBody>
      </p:sp>
      <p:sp>
        <p:nvSpPr>
          <p:cNvPr id="18" name="Rounded Rectangle 17"/>
          <p:cNvSpPr/>
          <p:nvPr/>
        </p:nvSpPr>
        <p:spPr>
          <a:xfrm>
            <a:off x="640080" y="196596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2130552"/>
            <a:ext cx="365760" cy="365760"/>
          </a:xfrm>
          <a:prstGeom prst="rect">
            <a:avLst/>
          </a:prstGeom>
          <a:noFill/>
        </p:spPr>
        <p:txBody>
          <a:bodyPr wrap="none">
            <a:spAutoFit/>
          </a:bodyPr>
          <a:lstStyle/>
          <a:p>
            <a:pPr algn="l"/>
            <a:r>
              <a:rPr sz="1600" b="1">
                <a:solidFill>
                  <a:srgbClr val="38BDF8"/>
                </a:solidFill>
                <a:latin typeface="Calibri"/>
              </a:rPr>
              <a:t>4</a:t>
            </a:r>
          </a:p>
        </p:txBody>
      </p:sp>
      <p:sp>
        <p:nvSpPr>
          <p:cNvPr id="20" name="TextBox 19"/>
          <p:cNvSpPr txBox="1"/>
          <p:nvPr/>
        </p:nvSpPr>
        <p:spPr>
          <a:xfrm>
            <a:off x="1097280" y="2130552"/>
            <a:ext cx="1874519" cy="502920"/>
          </a:xfrm>
          <a:prstGeom prst="rect">
            <a:avLst/>
          </a:prstGeom>
          <a:noFill/>
        </p:spPr>
        <p:txBody>
          <a:bodyPr wrap="none">
            <a:spAutoFit/>
          </a:bodyPr>
          <a:lstStyle/>
          <a:p>
            <a:pPr algn="l"/>
            <a:r>
              <a:rPr sz="1200" b="0">
                <a:solidFill>
                  <a:srgbClr val="CBD5E1"/>
                </a:solidFill>
                <a:latin typeface="Calibri"/>
              </a:rPr>
              <a:t>Generate test cases</a:t>
            </a:r>
          </a:p>
        </p:txBody>
      </p:sp>
      <p:sp>
        <p:nvSpPr>
          <p:cNvPr id="21" name="Rounded Rectangle 20"/>
          <p:cNvSpPr/>
          <p:nvPr/>
        </p:nvSpPr>
        <p:spPr>
          <a:xfrm>
            <a:off x="3246120" y="196596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0" y="2130552"/>
            <a:ext cx="365760" cy="365760"/>
          </a:xfrm>
          <a:prstGeom prst="rect">
            <a:avLst/>
          </a:prstGeom>
          <a:noFill/>
        </p:spPr>
        <p:txBody>
          <a:bodyPr wrap="none">
            <a:spAutoFit/>
          </a:bodyPr>
          <a:lstStyle/>
          <a:p>
            <a:pPr algn="l"/>
            <a:r>
              <a:rPr sz="1600" b="1">
                <a:solidFill>
                  <a:srgbClr val="38BDF8"/>
                </a:solidFill>
                <a:latin typeface="Calibri"/>
              </a:rPr>
              <a:t>5</a:t>
            </a:r>
          </a:p>
        </p:txBody>
      </p:sp>
      <p:sp>
        <p:nvSpPr>
          <p:cNvPr id="23" name="TextBox 22"/>
          <p:cNvSpPr txBox="1"/>
          <p:nvPr/>
        </p:nvSpPr>
        <p:spPr>
          <a:xfrm>
            <a:off x="3703320" y="2130552"/>
            <a:ext cx="1874519" cy="502920"/>
          </a:xfrm>
          <a:prstGeom prst="rect">
            <a:avLst/>
          </a:prstGeom>
          <a:noFill/>
        </p:spPr>
        <p:txBody>
          <a:bodyPr wrap="none">
            <a:spAutoFit/>
          </a:bodyPr>
          <a:lstStyle/>
          <a:p>
            <a:pPr algn="l"/>
            <a:r>
              <a:rPr sz="1200" b="0">
                <a:solidFill>
                  <a:srgbClr val="CBD5E1"/>
                </a:solidFill>
                <a:latin typeface="Calibri"/>
              </a:rPr>
              <a:t>Review validity</a:t>
            </a:r>
          </a:p>
        </p:txBody>
      </p:sp>
      <p:sp>
        <p:nvSpPr>
          <p:cNvPr id="24" name="Rounded Rectangle 23"/>
          <p:cNvSpPr/>
          <p:nvPr/>
        </p:nvSpPr>
        <p:spPr>
          <a:xfrm>
            <a:off x="5852160" y="196596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89320" y="2130552"/>
            <a:ext cx="365760" cy="365760"/>
          </a:xfrm>
          <a:prstGeom prst="rect">
            <a:avLst/>
          </a:prstGeom>
          <a:noFill/>
        </p:spPr>
        <p:txBody>
          <a:bodyPr wrap="none">
            <a:spAutoFit/>
          </a:bodyPr>
          <a:lstStyle/>
          <a:p>
            <a:pPr algn="l"/>
            <a:r>
              <a:rPr sz="1600" b="1">
                <a:solidFill>
                  <a:srgbClr val="38BDF8"/>
                </a:solidFill>
                <a:latin typeface="Calibri"/>
              </a:rPr>
              <a:t>6</a:t>
            </a:r>
          </a:p>
        </p:txBody>
      </p:sp>
      <p:sp>
        <p:nvSpPr>
          <p:cNvPr id="26" name="TextBox 25"/>
          <p:cNvSpPr txBox="1"/>
          <p:nvPr/>
        </p:nvSpPr>
        <p:spPr>
          <a:xfrm>
            <a:off x="6309360" y="2130552"/>
            <a:ext cx="1874519" cy="502920"/>
          </a:xfrm>
          <a:prstGeom prst="rect">
            <a:avLst/>
          </a:prstGeom>
          <a:noFill/>
        </p:spPr>
        <p:txBody>
          <a:bodyPr wrap="none">
            <a:spAutoFit/>
          </a:bodyPr>
          <a:lstStyle/>
          <a:p>
            <a:pPr algn="l"/>
            <a:r>
              <a:rPr sz="1200" b="0">
                <a:solidFill>
                  <a:srgbClr val="CBD5E1"/>
                </a:solidFill>
                <a:latin typeface="Calibri"/>
              </a:rPr>
              <a:t>Classify automation feasibility</a:t>
            </a:r>
          </a:p>
        </p:txBody>
      </p:sp>
      <p:sp>
        <p:nvSpPr>
          <p:cNvPr id="27" name="Rounded Rectangle 26"/>
          <p:cNvSpPr/>
          <p:nvPr/>
        </p:nvSpPr>
        <p:spPr>
          <a:xfrm>
            <a:off x="640080" y="2834639"/>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2999231"/>
            <a:ext cx="365760" cy="365760"/>
          </a:xfrm>
          <a:prstGeom prst="rect">
            <a:avLst/>
          </a:prstGeom>
          <a:noFill/>
        </p:spPr>
        <p:txBody>
          <a:bodyPr wrap="none">
            <a:spAutoFit/>
          </a:bodyPr>
          <a:lstStyle/>
          <a:p>
            <a:pPr algn="l"/>
            <a:r>
              <a:rPr sz="1600" b="1">
                <a:solidFill>
                  <a:srgbClr val="38BDF8"/>
                </a:solidFill>
                <a:latin typeface="Calibri"/>
              </a:rPr>
              <a:t>7</a:t>
            </a:r>
          </a:p>
        </p:txBody>
      </p:sp>
      <p:sp>
        <p:nvSpPr>
          <p:cNvPr id="29" name="TextBox 28"/>
          <p:cNvSpPr txBox="1"/>
          <p:nvPr/>
        </p:nvSpPr>
        <p:spPr>
          <a:xfrm>
            <a:off x="1097280" y="2999231"/>
            <a:ext cx="1874519" cy="502920"/>
          </a:xfrm>
          <a:prstGeom prst="rect">
            <a:avLst/>
          </a:prstGeom>
          <a:noFill/>
        </p:spPr>
        <p:txBody>
          <a:bodyPr wrap="none">
            <a:spAutoFit/>
          </a:bodyPr>
          <a:lstStyle/>
          <a:p>
            <a:pPr algn="l"/>
            <a:r>
              <a:rPr sz="1200" b="0">
                <a:solidFill>
                  <a:srgbClr val="CBD5E1"/>
                </a:solidFill>
                <a:latin typeface="Calibri"/>
              </a:rPr>
              <a:t>Detect coverage gaps</a:t>
            </a:r>
          </a:p>
        </p:txBody>
      </p:sp>
      <p:sp>
        <p:nvSpPr>
          <p:cNvPr id="30" name="Rounded Rectangle 29"/>
          <p:cNvSpPr/>
          <p:nvPr/>
        </p:nvSpPr>
        <p:spPr>
          <a:xfrm>
            <a:off x="3246120" y="2834639"/>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0" y="2999231"/>
            <a:ext cx="365760" cy="365760"/>
          </a:xfrm>
          <a:prstGeom prst="rect">
            <a:avLst/>
          </a:prstGeom>
          <a:noFill/>
        </p:spPr>
        <p:txBody>
          <a:bodyPr wrap="none">
            <a:spAutoFit/>
          </a:bodyPr>
          <a:lstStyle/>
          <a:p>
            <a:pPr algn="l"/>
            <a:r>
              <a:rPr sz="1600" b="1">
                <a:solidFill>
                  <a:srgbClr val="38BDF8"/>
                </a:solidFill>
                <a:latin typeface="Calibri"/>
              </a:rPr>
              <a:t>8</a:t>
            </a:r>
          </a:p>
        </p:txBody>
      </p:sp>
      <p:sp>
        <p:nvSpPr>
          <p:cNvPr id="32" name="TextBox 31"/>
          <p:cNvSpPr txBox="1"/>
          <p:nvPr/>
        </p:nvSpPr>
        <p:spPr>
          <a:xfrm>
            <a:off x="3703320" y="2999231"/>
            <a:ext cx="1874519" cy="502920"/>
          </a:xfrm>
          <a:prstGeom prst="rect">
            <a:avLst/>
          </a:prstGeom>
          <a:noFill/>
        </p:spPr>
        <p:txBody>
          <a:bodyPr wrap="none">
            <a:spAutoFit/>
          </a:bodyPr>
          <a:lstStyle/>
          <a:p>
            <a:pPr algn="l"/>
            <a:r>
              <a:rPr sz="1200" b="0">
                <a:solidFill>
                  <a:srgbClr val="CBD5E1"/>
                </a:solidFill>
                <a:latin typeface="Calibri"/>
              </a:rPr>
              <a:t>Generate targeted tests</a:t>
            </a:r>
          </a:p>
        </p:txBody>
      </p:sp>
      <p:sp>
        <p:nvSpPr>
          <p:cNvPr id="33" name="Rounded Rectangle 32"/>
          <p:cNvSpPr/>
          <p:nvPr/>
        </p:nvSpPr>
        <p:spPr>
          <a:xfrm>
            <a:off x="5852160" y="2834639"/>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89320" y="2999231"/>
            <a:ext cx="365760" cy="365760"/>
          </a:xfrm>
          <a:prstGeom prst="rect">
            <a:avLst/>
          </a:prstGeom>
          <a:noFill/>
        </p:spPr>
        <p:txBody>
          <a:bodyPr wrap="none">
            <a:spAutoFit/>
          </a:bodyPr>
          <a:lstStyle/>
          <a:p>
            <a:pPr algn="l"/>
            <a:r>
              <a:rPr sz="1600" b="1">
                <a:solidFill>
                  <a:srgbClr val="38BDF8"/>
                </a:solidFill>
                <a:latin typeface="Calibri"/>
              </a:rPr>
              <a:t>9</a:t>
            </a:r>
          </a:p>
        </p:txBody>
      </p:sp>
      <p:sp>
        <p:nvSpPr>
          <p:cNvPr id="35" name="TextBox 34"/>
          <p:cNvSpPr txBox="1"/>
          <p:nvPr/>
        </p:nvSpPr>
        <p:spPr>
          <a:xfrm>
            <a:off x="6309360" y="2999231"/>
            <a:ext cx="1874519" cy="502920"/>
          </a:xfrm>
          <a:prstGeom prst="rect">
            <a:avLst/>
          </a:prstGeom>
          <a:noFill/>
        </p:spPr>
        <p:txBody>
          <a:bodyPr wrap="none">
            <a:spAutoFit/>
          </a:bodyPr>
          <a:lstStyle/>
          <a:p>
            <a:pPr algn="l"/>
            <a:r>
              <a:rPr sz="1200" b="0">
                <a:solidFill>
                  <a:srgbClr val="CBD5E1"/>
                </a:solidFill>
                <a:latin typeface="Calibri"/>
              </a:rPr>
              <a:t>Export BDD / Gherkin</a:t>
            </a:r>
          </a:p>
        </p:txBody>
      </p:sp>
      <p:sp>
        <p:nvSpPr>
          <p:cNvPr id="36" name="Rounded Rectangle 35"/>
          <p:cNvSpPr/>
          <p:nvPr/>
        </p:nvSpPr>
        <p:spPr>
          <a:xfrm>
            <a:off x="640080" y="3840480"/>
            <a:ext cx="7589520" cy="502920"/>
          </a:xfrm>
          <a:prstGeom prst="roundRect">
            <a:avLst>
              <a:gd name="adj" fmla="val 8000"/>
            </a:avLst>
          </a:prstGeom>
          <a:solidFill>
            <a:srgbClr val="121A2B"/>
          </a:solidFill>
          <a:ln w="15875">
            <a:solidFill>
              <a:srgbClr val="38BDF8"/>
            </a:solidFill>
          </a:ln>
        </p:spPr>
        <p:style>
          <a:lnRef idx="1">
            <a:schemeClr val="accent1"/>
          </a:lnRef>
          <a:fillRef idx="3">
            <a:schemeClr val="accent1"/>
          </a:fillRef>
          <a:effectRef idx="2">
            <a:schemeClr val="accent1"/>
          </a:effectRef>
          <a:fontRef idx="minor">
            <a:schemeClr val="lt1"/>
          </a:fontRef>
        </p:style>
        <p:txBody>
          <a:bodyPr tIns="127000" rtlCol="0" anchor="ctr"/>
          <a:lstStyle/>
          <a:p>
            <a:pPr algn="ctr"/>
            <a:r>
              <a:rPr sz="1300" b="1">
                <a:solidFill>
                  <a:srgbClr val="38BDF8"/>
                </a:solidFill>
                <a:latin typeface="Calibri"/>
              </a:rPr>
              <a:t>Agent Loop   ·   Generate  -&gt;  Review  -&gt;  Fix  -&gt;  Cover  -&gt;  Export</a:t>
            </a:r>
          </a:p>
        </p:txBody>
      </p:sp>
      <p:sp>
        <p:nvSpPr>
          <p:cNvPr id="37" name="TextBox 36"/>
          <p:cNvSpPr txBox="1"/>
          <p:nvPr/>
        </p:nvSpPr>
        <p:spPr>
          <a:xfrm>
            <a:off x="640080" y="4526280"/>
            <a:ext cx="3657600" cy="320040"/>
          </a:xfrm>
          <a:prstGeom prst="rect">
            <a:avLst/>
          </a:prstGeom>
          <a:noFill/>
        </p:spPr>
        <p:txBody>
          <a:bodyPr wrap="none">
            <a:spAutoFit/>
          </a:bodyPr>
          <a:lstStyle/>
          <a:p>
            <a:pPr algn="l"/>
            <a:r>
              <a:rPr sz="1100" b="1">
                <a:solidFill>
                  <a:srgbClr val="F5C542"/>
                </a:solidFill>
                <a:latin typeface="Calibri"/>
              </a:rPr>
              <a:t>OUTPUTS</a:t>
            </a:r>
          </a:p>
        </p:txBody>
      </p:sp>
      <p:sp>
        <p:nvSpPr>
          <p:cNvPr id="38" name="Rounded Rectangle 37"/>
          <p:cNvSpPr/>
          <p:nvPr/>
        </p:nvSpPr>
        <p:spPr>
          <a:xfrm>
            <a:off x="64008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Test Cases</a:t>
            </a:r>
          </a:p>
        </p:txBody>
      </p:sp>
      <p:sp>
        <p:nvSpPr>
          <p:cNvPr id="39" name="Rounded Rectangle 38"/>
          <p:cNvSpPr/>
          <p:nvPr/>
        </p:nvSpPr>
        <p:spPr>
          <a:xfrm>
            <a:off x="219456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BDD Feature Files</a:t>
            </a:r>
          </a:p>
        </p:txBody>
      </p:sp>
      <p:sp>
        <p:nvSpPr>
          <p:cNvPr id="40" name="Rounded Rectangle 39"/>
          <p:cNvSpPr/>
          <p:nvPr/>
        </p:nvSpPr>
        <p:spPr>
          <a:xfrm>
            <a:off x="3749039"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Automation Review</a:t>
            </a:r>
          </a:p>
        </p:txBody>
      </p:sp>
      <p:sp>
        <p:nvSpPr>
          <p:cNvPr id="41" name="Rounded Rectangle 40"/>
          <p:cNvSpPr/>
          <p:nvPr/>
        </p:nvSpPr>
        <p:spPr>
          <a:xfrm>
            <a:off x="530352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Exploratory Missions</a:t>
            </a:r>
          </a:p>
        </p:txBody>
      </p:sp>
      <p:sp>
        <p:nvSpPr>
          <p:cNvPr id="42" name="Rounded Rectangle 41"/>
          <p:cNvSpPr/>
          <p:nvPr/>
        </p:nvSpPr>
        <p:spPr>
          <a:xfrm>
            <a:off x="685800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Bug Reports</a:t>
            </a:r>
          </a:p>
        </p:txBody>
      </p:sp>
      <p:sp>
        <p:nvSpPr>
          <p:cNvPr id="43" name="Rounded Rectangle 42"/>
          <p:cNvSpPr/>
          <p:nvPr/>
        </p:nvSpPr>
        <p:spPr>
          <a:xfrm>
            <a:off x="640080"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Regression Recs</a:t>
            </a:r>
          </a:p>
        </p:txBody>
      </p:sp>
      <p:sp>
        <p:nvSpPr>
          <p:cNvPr id="44" name="Rounded Rectangle 43"/>
          <p:cNvSpPr/>
          <p:nvPr/>
        </p:nvSpPr>
        <p:spPr>
          <a:xfrm>
            <a:off x="2194560"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Coverage Gaps</a:t>
            </a:r>
          </a:p>
        </p:txBody>
      </p:sp>
      <p:sp>
        <p:nvSpPr>
          <p:cNvPr id="45" name="Rounded Rectangle 44"/>
          <p:cNvSpPr/>
          <p:nvPr/>
        </p:nvSpPr>
        <p:spPr>
          <a:xfrm>
            <a:off x="3749039"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Sources &amp; Evidence</a:t>
            </a:r>
          </a:p>
        </p:txBody>
      </p:sp>
      <p:sp>
        <p:nvSpPr>
          <p:cNvPr id="46" name="Rounded Rectangle 45"/>
          <p:cNvSpPr/>
          <p:nvPr/>
        </p:nvSpPr>
        <p:spPr>
          <a:xfrm>
            <a:off x="5303520"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Agent Trace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lide5_hero.png"/>
          <p:cNvPicPr>
            <a:picLocks noChangeAspect="1"/>
          </p:cNvPicPr>
          <p:nvPr/>
        </p:nvPicPr>
        <p:blipFill>
          <a:blip r:embed="rId3"/>
          <a:stretch>
            <a:fillRect/>
          </a:stretch>
        </p:blipFill>
        <p:spPr>
          <a:xfrm>
            <a:off x="8503920" y="1005840"/>
            <a:ext cx="3383280" cy="3840480"/>
          </a:xfrm>
          <a:prstGeom prst="rect">
            <a:avLst/>
          </a:prstGeom>
        </p:spPr>
      </p:pic>
      <p:sp>
        <p:nvSpPr>
          <p:cNvPr id="6" name="Rectangle 5"/>
          <p:cNvSpPr/>
          <p:nvPr/>
        </p:nvSpPr>
        <p:spPr>
          <a:xfrm>
            <a:off x="8503920" y="1005840"/>
            <a:ext cx="3383280" cy="384048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20040"/>
            <a:ext cx="10972800" cy="502920"/>
          </a:xfrm>
          <a:prstGeom prst="rect">
            <a:avLst/>
          </a:prstGeom>
          <a:noFill/>
        </p:spPr>
        <p:txBody>
          <a:bodyPr wrap="none">
            <a:spAutoFit/>
          </a:bodyPr>
          <a:lstStyle/>
          <a:p>
            <a:pPr algn="l"/>
            <a:r>
              <a:rPr sz="2800" b="1">
                <a:solidFill>
                  <a:srgbClr val="F8FAFC"/>
                </a:solidFill>
                <a:latin typeface="Calibri"/>
              </a:rPr>
              <a:t>What Makes This Demo Powerful</a:t>
            </a:r>
          </a:p>
        </p:txBody>
      </p:sp>
      <p:sp>
        <p:nvSpPr>
          <p:cNvPr id="8" name="Rectangle 7"/>
          <p:cNvSpPr/>
          <p:nvPr/>
        </p:nvSpPr>
        <p:spPr>
          <a:xfrm>
            <a:off x="640080" y="868680"/>
            <a:ext cx="1645920" cy="4572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18872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188720"/>
            <a:ext cx="73152" cy="1371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417320"/>
            <a:ext cx="640080" cy="320040"/>
          </a:xfrm>
          <a:prstGeom prst="rect">
            <a:avLst/>
          </a:prstGeom>
          <a:noFill/>
        </p:spPr>
        <p:txBody>
          <a:bodyPr wrap="none">
            <a:spAutoFit/>
          </a:bodyPr>
          <a:lstStyle/>
          <a:p>
            <a:pPr algn="l"/>
            <a:r>
              <a:rPr sz="1600" b="1">
                <a:solidFill>
                  <a:srgbClr val="2DD4BF"/>
                </a:solidFill>
                <a:latin typeface="Calibri"/>
              </a:rPr>
              <a:t>01</a:t>
            </a:r>
          </a:p>
        </p:txBody>
      </p:sp>
      <p:sp>
        <p:nvSpPr>
          <p:cNvPr id="12" name="TextBox 11"/>
          <p:cNvSpPr txBox="1"/>
          <p:nvPr/>
        </p:nvSpPr>
        <p:spPr>
          <a:xfrm>
            <a:off x="914400" y="1691640"/>
            <a:ext cx="3108960" cy="320040"/>
          </a:xfrm>
          <a:prstGeom prst="rect">
            <a:avLst/>
          </a:prstGeom>
          <a:noFill/>
        </p:spPr>
        <p:txBody>
          <a:bodyPr wrap="none">
            <a:spAutoFit/>
          </a:bodyPr>
          <a:lstStyle/>
          <a:p>
            <a:pPr algn="l"/>
            <a:r>
              <a:rPr sz="1500" b="1">
                <a:solidFill>
                  <a:srgbClr val="F8FAFC"/>
                </a:solidFill>
                <a:latin typeface="Calibri"/>
              </a:rPr>
              <a:t>Context-aware QA</a:t>
            </a:r>
          </a:p>
        </p:txBody>
      </p:sp>
      <p:sp>
        <p:nvSpPr>
          <p:cNvPr id="13" name="TextBox 12"/>
          <p:cNvSpPr txBox="1"/>
          <p:nvPr/>
        </p:nvSpPr>
        <p:spPr>
          <a:xfrm>
            <a:off x="914400" y="2057400"/>
            <a:ext cx="3108960" cy="365760"/>
          </a:xfrm>
          <a:prstGeom prst="rect">
            <a:avLst/>
          </a:prstGeom>
          <a:noFill/>
        </p:spPr>
        <p:txBody>
          <a:bodyPr wrap="none">
            <a:spAutoFit/>
          </a:bodyPr>
          <a:lstStyle/>
          <a:p>
            <a:pPr algn="l"/>
            <a:r>
              <a:rPr sz="1200" b="0">
                <a:solidFill>
                  <a:srgbClr val="94A3B8"/>
                </a:solidFill>
                <a:latin typeface="Calibri"/>
              </a:rPr>
              <a:t>Uses actual system flow and project knowledge.</a:t>
            </a:r>
          </a:p>
        </p:txBody>
      </p:sp>
      <p:sp>
        <p:nvSpPr>
          <p:cNvPr id="14" name="Rounded Rectangle 13"/>
          <p:cNvSpPr/>
          <p:nvPr/>
        </p:nvSpPr>
        <p:spPr>
          <a:xfrm>
            <a:off x="4480560" y="118872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80560" y="1188720"/>
            <a:ext cx="73152" cy="13716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0" y="1417320"/>
            <a:ext cx="640080" cy="320040"/>
          </a:xfrm>
          <a:prstGeom prst="rect">
            <a:avLst/>
          </a:prstGeom>
          <a:noFill/>
        </p:spPr>
        <p:txBody>
          <a:bodyPr wrap="none">
            <a:spAutoFit/>
          </a:bodyPr>
          <a:lstStyle/>
          <a:p>
            <a:pPr algn="l"/>
            <a:r>
              <a:rPr sz="1600" b="1">
                <a:solidFill>
                  <a:srgbClr val="38BDF8"/>
                </a:solidFill>
                <a:latin typeface="Calibri"/>
              </a:rPr>
              <a:t>02</a:t>
            </a:r>
          </a:p>
        </p:txBody>
      </p:sp>
      <p:sp>
        <p:nvSpPr>
          <p:cNvPr id="17" name="TextBox 16"/>
          <p:cNvSpPr txBox="1"/>
          <p:nvPr/>
        </p:nvSpPr>
        <p:spPr>
          <a:xfrm>
            <a:off x="4754880" y="1691640"/>
            <a:ext cx="3108960" cy="320040"/>
          </a:xfrm>
          <a:prstGeom prst="rect">
            <a:avLst/>
          </a:prstGeom>
          <a:noFill/>
        </p:spPr>
        <p:txBody>
          <a:bodyPr wrap="none">
            <a:spAutoFit/>
          </a:bodyPr>
          <a:lstStyle/>
          <a:p>
            <a:pPr algn="l"/>
            <a:r>
              <a:rPr sz="1500" b="1">
                <a:solidFill>
                  <a:srgbClr val="F8FAFC"/>
                </a:solidFill>
                <a:latin typeface="Calibri"/>
              </a:rPr>
              <a:t>Evidence-backed results</a:t>
            </a:r>
          </a:p>
        </p:txBody>
      </p:sp>
      <p:sp>
        <p:nvSpPr>
          <p:cNvPr id="18" name="TextBox 17"/>
          <p:cNvSpPr txBox="1"/>
          <p:nvPr/>
        </p:nvSpPr>
        <p:spPr>
          <a:xfrm>
            <a:off x="4754880" y="2057400"/>
            <a:ext cx="3227550" cy="461665"/>
          </a:xfrm>
          <a:prstGeom prst="rect">
            <a:avLst/>
          </a:prstGeom>
          <a:noFill/>
        </p:spPr>
        <p:txBody>
          <a:bodyPr wrap="none">
            <a:spAutoFit/>
          </a:bodyPr>
          <a:lstStyle/>
          <a:p>
            <a:pPr algn="l"/>
            <a:r>
              <a:rPr sz="1200" b="0" dirty="0">
                <a:solidFill>
                  <a:srgbClr val="94A3B8"/>
                </a:solidFill>
                <a:latin typeface="Calibri"/>
              </a:rPr>
              <a:t>Every output links to graph paths, requirements, </a:t>
            </a:r>
            <a:endParaRPr lang="en-IN" sz="1200" b="0" dirty="0">
              <a:solidFill>
                <a:srgbClr val="94A3B8"/>
              </a:solidFill>
              <a:latin typeface="Calibri"/>
            </a:endParaRPr>
          </a:p>
          <a:p>
            <a:pPr algn="l"/>
            <a:r>
              <a:rPr sz="1200" b="0" dirty="0">
                <a:solidFill>
                  <a:srgbClr val="94A3B8"/>
                </a:solidFill>
                <a:latin typeface="Calibri"/>
              </a:rPr>
              <a:t>bugs, or documents.</a:t>
            </a:r>
          </a:p>
        </p:txBody>
      </p:sp>
      <p:sp>
        <p:nvSpPr>
          <p:cNvPr id="19" name="Rounded Rectangle 18"/>
          <p:cNvSpPr/>
          <p:nvPr/>
        </p:nvSpPr>
        <p:spPr>
          <a:xfrm>
            <a:off x="640080" y="274320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2743200"/>
            <a:ext cx="73152" cy="13716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971800"/>
            <a:ext cx="640080" cy="320040"/>
          </a:xfrm>
          <a:prstGeom prst="rect">
            <a:avLst/>
          </a:prstGeom>
          <a:noFill/>
        </p:spPr>
        <p:txBody>
          <a:bodyPr wrap="none">
            <a:spAutoFit/>
          </a:bodyPr>
          <a:lstStyle/>
          <a:p>
            <a:pPr algn="l"/>
            <a:r>
              <a:rPr sz="1600" b="1">
                <a:solidFill>
                  <a:srgbClr val="A78BFA"/>
                </a:solidFill>
                <a:latin typeface="Calibri"/>
              </a:rPr>
              <a:t>03</a:t>
            </a:r>
          </a:p>
        </p:txBody>
      </p:sp>
      <p:sp>
        <p:nvSpPr>
          <p:cNvPr id="22" name="TextBox 21"/>
          <p:cNvSpPr txBox="1"/>
          <p:nvPr/>
        </p:nvSpPr>
        <p:spPr>
          <a:xfrm>
            <a:off x="914400" y="3246120"/>
            <a:ext cx="3108960" cy="320040"/>
          </a:xfrm>
          <a:prstGeom prst="rect">
            <a:avLst/>
          </a:prstGeom>
          <a:noFill/>
        </p:spPr>
        <p:txBody>
          <a:bodyPr wrap="none">
            <a:spAutoFit/>
          </a:bodyPr>
          <a:lstStyle/>
          <a:p>
            <a:pPr algn="l"/>
            <a:r>
              <a:rPr sz="1500" b="1">
                <a:solidFill>
                  <a:srgbClr val="F8FAFC"/>
                </a:solidFill>
                <a:latin typeface="Calibri"/>
              </a:rPr>
              <a:t>Closed-loop coverage</a:t>
            </a:r>
          </a:p>
        </p:txBody>
      </p:sp>
      <p:sp>
        <p:nvSpPr>
          <p:cNvPr id="23" name="TextBox 22"/>
          <p:cNvSpPr txBox="1"/>
          <p:nvPr/>
        </p:nvSpPr>
        <p:spPr>
          <a:xfrm>
            <a:off x="914400" y="3611880"/>
            <a:ext cx="3135089" cy="461665"/>
          </a:xfrm>
          <a:prstGeom prst="rect">
            <a:avLst/>
          </a:prstGeom>
          <a:noFill/>
        </p:spPr>
        <p:txBody>
          <a:bodyPr wrap="none">
            <a:spAutoFit/>
          </a:bodyPr>
          <a:lstStyle/>
          <a:p>
            <a:pPr algn="l"/>
            <a:r>
              <a:rPr sz="1200" b="0" dirty="0">
                <a:solidFill>
                  <a:srgbClr val="94A3B8"/>
                </a:solidFill>
                <a:latin typeface="Calibri"/>
              </a:rPr>
              <a:t>Reviewer finds weak or missing tests and sends</a:t>
            </a:r>
            <a:endParaRPr lang="en-IN" sz="1200" b="0" dirty="0">
              <a:solidFill>
                <a:srgbClr val="94A3B8"/>
              </a:solidFill>
              <a:latin typeface="Calibri"/>
            </a:endParaRPr>
          </a:p>
          <a:p>
            <a:pPr algn="l"/>
            <a:r>
              <a:rPr sz="1200" b="0" dirty="0">
                <a:solidFill>
                  <a:srgbClr val="94A3B8"/>
                </a:solidFill>
                <a:latin typeface="Calibri"/>
              </a:rPr>
              <a:t> them back for refinement.</a:t>
            </a:r>
          </a:p>
        </p:txBody>
      </p:sp>
      <p:sp>
        <p:nvSpPr>
          <p:cNvPr id="24" name="Rounded Rectangle 23"/>
          <p:cNvSpPr/>
          <p:nvPr/>
        </p:nvSpPr>
        <p:spPr>
          <a:xfrm>
            <a:off x="4480560" y="274320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80560" y="2743200"/>
            <a:ext cx="73152" cy="137160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54880" y="2971800"/>
            <a:ext cx="640080" cy="320040"/>
          </a:xfrm>
          <a:prstGeom prst="rect">
            <a:avLst/>
          </a:prstGeom>
          <a:noFill/>
        </p:spPr>
        <p:txBody>
          <a:bodyPr wrap="none">
            <a:spAutoFit/>
          </a:bodyPr>
          <a:lstStyle/>
          <a:p>
            <a:pPr algn="l"/>
            <a:r>
              <a:rPr sz="1600" b="1">
                <a:solidFill>
                  <a:srgbClr val="F5C542"/>
                </a:solidFill>
                <a:latin typeface="Calibri"/>
              </a:rPr>
              <a:t>04</a:t>
            </a:r>
          </a:p>
        </p:txBody>
      </p:sp>
      <p:sp>
        <p:nvSpPr>
          <p:cNvPr id="27" name="TextBox 26"/>
          <p:cNvSpPr txBox="1"/>
          <p:nvPr/>
        </p:nvSpPr>
        <p:spPr>
          <a:xfrm>
            <a:off x="4754880" y="3246120"/>
            <a:ext cx="3108960" cy="320040"/>
          </a:xfrm>
          <a:prstGeom prst="rect">
            <a:avLst/>
          </a:prstGeom>
          <a:noFill/>
        </p:spPr>
        <p:txBody>
          <a:bodyPr wrap="none">
            <a:spAutoFit/>
          </a:bodyPr>
          <a:lstStyle/>
          <a:p>
            <a:pPr algn="l"/>
            <a:r>
              <a:rPr sz="1500" b="1">
                <a:solidFill>
                  <a:srgbClr val="F8FAFC"/>
                </a:solidFill>
                <a:latin typeface="Calibri"/>
              </a:rPr>
              <a:t>Automation-ready planning</a:t>
            </a:r>
          </a:p>
        </p:txBody>
      </p:sp>
      <p:sp>
        <p:nvSpPr>
          <p:cNvPr id="28" name="TextBox 27"/>
          <p:cNvSpPr txBox="1"/>
          <p:nvPr/>
        </p:nvSpPr>
        <p:spPr>
          <a:xfrm>
            <a:off x="4754880" y="3611880"/>
            <a:ext cx="3339569" cy="461665"/>
          </a:xfrm>
          <a:prstGeom prst="rect">
            <a:avLst/>
          </a:prstGeom>
          <a:noFill/>
        </p:spPr>
        <p:txBody>
          <a:bodyPr wrap="none">
            <a:spAutoFit/>
          </a:bodyPr>
          <a:lstStyle/>
          <a:p>
            <a:pPr algn="l"/>
            <a:r>
              <a:rPr sz="1200" b="0" dirty="0">
                <a:solidFill>
                  <a:srgbClr val="94A3B8"/>
                </a:solidFill>
                <a:latin typeface="Calibri"/>
              </a:rPr>
              <a:t>Classifies tests as automatable, manual, hybrid, or </a:t>
            </a:r>
            <a:endParaRPr lang="en-IN" sz="1200" b="0" dirty="0">
              <a:solidFill>
                <a:srgbClr val="94A3B8"/>
              </a:solidFill>
              <a:latin typeface="Calibri"/>
            </a:endParaRPr>
          </a:p>
          <a:p>
            <a:pPr algn="l"/>
            <a:r>
              <a:rPr sz="1200" b="0" dirty="0">
                <a:solidFill>
                  <a:srgbClr val="94A3B8"/>
                </a:solidFill>
                <a:latin typeface="Calibri"/>
              </a:rPr>
              <a:t>not ready.</a:t>
            </a:r>
          </a:p>
        </p:txBody>
      </p:sp>
      <p:sp>
        <p:nvSpPr>
          <p:cNvPr id="29" name="Rounded Rectangle 28"/>
          <p:cNvSpPr/>
          <p:nvPr/>
        </p:nvSpPr>
        <p:spPr>
          <a:xfrm>
            <a:off x="640080" y="4572000"/>
            <a:ext cx="10881360" cy="1554480"/>
          </a:xfrm>
          <a:prstGeom prst="roundRect">
            <a:avLst>
              <a:gd name="adj" fmla="val 8000"/>
            </a:avLst>
          </a:prstGeom>
          <a:solidFill>
            <a:srgbClr val="101828"/>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754880"/>
            <a:ext cx="10058400" cy="320040"/>
          </a:xfrm>
          <a:prstGeom prst="rect">
            <a:avLst/>
          </a:prstGeom>
          <a:noFill/>
        </p:spPr>
        <p:txBody>
          <a:bodyPr wrap="none">
            <a:spAutoFit/>
          </a:bodyPr>
          <a:lstStyle/>
          <a:p>
            <a:pPr algn="l"/>
            <a:r>
              <a:rPr sz="1200" b="1">
                <a:solidFill>
                  <a:srgbClr val="2DD4BF"/>
                </a:solidFill>
                <a:latin typeface="Calibri"/>
              </a:rPr>
              <a:t>LIVE DEMO FOCUS</a:t>
            </a:r>
          </a:p>
        </p:txBody>
      </p:sp>
      <p:sp>
        <p:nvSpPr>
          <p:cNvPr id="31" name="TextBox 30"/>
          <p:cNvSpPr txBox="1"/>
          <p:nvPr/>
        </p:nvSpPr>
        <p:spPr>
          <a:xfrm>
            <a:off x="914400" y="5166360"/>
            <a:ext cx="10241280" cy="640080"/>
          </a:xfrm>
          <a:prstGeom prst="rect">
            <a:avLst/>
          </a:prstGeom>
          <a:noFill/>
        </p:spPr>
        <p:txBody>
          <a:bodyPr wrap="none">
            <a:spAutoFit/>
          </a:bodyPr>
          <a:lstStyle/>
          <a:p>
            <a:pPr algn="l"/>
            <a:r>
              <a:rPr sz="1800" b="1">
                <a:solidFill>
                  <a:srgbClr val="F8FAFC"/>
                </a:solidFill>
                <a:latin typeface="Calibri"/>
              </a:rPr>
              <a:t>System Flow  -&gt;  Knowledge Import  -&gt;  Agentic Analysis  -&gt;  Results  -&gt;  BDD Export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6583680" cy="502920"/>
          </a:xfrm>
          <a:prstGeom prst="rect">
            <a:avLst/>
          </a:prstGeom>
          <a:noFill/>
        </p:spPr>
        <p:txBody>
          <a:bodyPr wrap="square">
            <a:spAutoFit/>
          </a:bodyPr>
          <a:lstStyle/>
          <a:p>
            <a:pPr algn="l"/>
            <a:r>
              <a:rPr sz="2800" b="1">
                <a:solidFill>
                  <a:srgbClr val="F8FAFC"/>
                </a:solidFill>
                <a:latin typeface="Calibri"/>
              </a:rPr>
              <a:t>Limitations &amp; Current Scope</a:t>
            </a:r>
          </a:p>
        </p:txBody>
      </p:sp>
      <p:sp>
        <p:nvSpPr>
          <p:cNvPr id="6" name="TextBox 5"/>
          <p:cNvSpPr txBox="1"/>
          <p:nvPr/>
        </p:nvSpPr>
        <p:spPr>
          <a:xfrm>
            <a:off x="502920" y="749808"/>
            <a:ext cx="6766560" cy="365760"/>
          </a:xfrm>
          <a:prstGeom prst="rect">
            <a:avLst/>
          </a:prstGeom>
          <a:noFill/>
        </p:spPr>
        <p:txBody>
          <a:bodyPr wrap="square">
            <a:spAutoFit/>
          </a:bodyPr>
          <a:lstStyle/>
          <a:p>
            <a:pPr algn="l"/>
            <a:r>
              <a:rPr sz="1300" b="0">
                <a:solidFill>
                  <a:srgbClr val="CBD5E1"/>
                </a:solidFill>
                <a:latin typeface="Calibri"/>
              </a:rPr>
              <a:t>What the current demo proves - and what remains for production hardening</a:t>
            </a:r>
          </a:p>
        </p:txBody>
      </p:sp>
      <p:sp>
        <p:nvSpPr>
          <p:cNvPr id="7" name="Rectangle 6"/>
          <p:cNvSpPr/>
          <p:nvPr/>
        </p:nvSpPr>
        <p:spPr>
          <a:xfrm>
            <a:off x="502920" y="1170432"/>
            <a:ext cx="16459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6766560" cy="502920"/>
          </a:xfrm>
          <a:prstGeom prst="rect">
            <a:avLst/>
          </a:prstGeom>
          <a:noFill/>
        </p:spPr>
        <p:txBody>
          <a:bodyPr wrap="square">
            <a:spAutoFit/>
          </a:bodyPr>
          <a:lstStyle/>
          <a:p>
            <a:pPr algn="l"/>
            <a:r>
              <a:rPr sz="1300" b="0">
                <a:solidFill>
                  <a:srgbClr val="94A3B8"/>
                </a:solidFill>
                <a:latin typeface="Calibri"/>
              </a:rPr>
              <a:t>The demo validates the core agentic QA workflow, while some production capabilities require further hardening.</a:t>
            </a:r>
          </a:p>
        </p:txBody>
      </p:sp>
      <p:sp>
        <p:nvSpPr>
          <p:cNvPr id="9" name="Rounded Rectangle 8"/>
          <p:cNvSpPr/>
          <p:nvPr/>
        </p:nvSpPr>
        <p:spPr>
          <a:xfrm>
            <a:off x="502920" y="1874518"/>
            <a:ext cx="6858000" cy="704089"/>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874519"/>
            <a:ext cx="64008" cy="685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2020823"/>
            <a:ext cx="411480" cy="320040"/>
          </a:xfrm>
          <a:prstGeom prst="rect">
            <a:avLst/>
          </a:prstGeom>
          <a:noFill/>
        </p:spPr>
        <p:txBody>
          <a:bodyPr wrap="square">
            <a:spAutoFit/>
          </a:bodyPr>
          <a:lstStyle/>
          <a:p>
            <a:pPr algn="l"/>
            <a:r>
              <a:rPr sz="1400" b="1">
                <a:solidFill>
                  <a:srgbClr val="F87171"/>
                </a:solidFill>
                <a:latin typeface="Calibri"/>
              </a:rPr>
              <a:t>01</a:t>
            </a:r>
          </a:p>
        </p:txBody>
      </p:sp>
      <p:sp>
        <p:nvSpPr>
          <p:cNvPr id="12" name="TextBox 11"/>
          <p:cNvSpPr txBox="1"/>
          <p:nvPr/>
        </p:nvSpPr>
        <p:spPr>
          <a:xfrm>
            <a:off x="1188720" y="1947671"/>
            <a:ext cx="5943600" cy="256032"/>
          </a:xfrm>
          <a:prstGeom prst="rect">
            <a:avLst/>
          </a:prstGeom>
          <a:noFill/>
        </p:spPr>
        <p:txBody>
          <a:bodyPr wrap="square">
            <a:spAutoFit/>
          </a:bodyPr>
          <a:lstStyle/>
          <a:p>
            <a:pPr algn="l"/>
            <a:r>
              <a:rPr sz="1300" b="1">
                <a:solidFill>
                  <a:srgbClr val="F8FAFC"/>
                </a:solidFill>
                <a:latin typeface="Calibri"/>
              </a:rPr>
              <a:t>Input quality matters</a:t>
            </a:r>
          </a:p>
        </p:txBody>
      </p:sp>
      <p:sp>
        <p:nvSpPr>
          <p:cNvPr id="13" name="TextBox 12"/>
          <p:cNvSpPr txBox="1"/>
          <p:nvPr/>
        </p:nvSpPr>
        <p:spPr>
          <a:xfrm>
            <a:off x="1188720" y="2194559"/>
            <a:ext cx="5943600" cy="292608"/>
          </a:xfrm>
          <a:prstGeom prst="rect">
            <a:avLst/>
          </a:prstGeom>
          <a:noFill/>
        </p:spPr>
        <p:txBody>
          <a:bodyPr wrap="square">
            <a:spAutoFit/>
          </a:bodyPr>
          <a:lstStyle/>
          <a:p>
            <a:pPr algn="l"/>
            <a:r>
              <a:rPr sz="1100" b="0">
                <a:solidFill>
                  <a:srgbClr val="94A3B8"/>
                </a:solidFill>
                <a:latin typeface="Calibri"/>
              </a:rPr>
              <a:t>QA output quality depends on the completeness of the system-flow graph and uploaded knowledge.</a:t>
            </a:r>
          </a:p>
        </p:txBody>
      </p:sp>
      <p:sp>
        <p:nvSpPr>
          <p:cNvPr id="14" name="Rounded Rectangle 13"/>
          <p:cNvSpPr/>
          <p:nvPr/>
        </p:nvSpPr>
        <p:spPr>
          <a:xfrm>
            <a:off x="502920" y="2587752"/>
            <a:ext cx="6858000" cy="694944"/>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587752"/>
            <a:ext cx="64008" cy="68579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734056"/>
            <a:ext cx="411480" cy="320040"/>
          </a:xfrm>
          <a:prstGeom prst="rect">
            <a:avLst/>
          </a:prstGeom>
          <a:noFill/>
        </p:spPr>
        <p:txBody>
          <a:bodyPr wrap="square">
            <a:spAutoFit/>
          </a:bodyPr>
          <a:lstStyle/>
          <a:p>
            <a:pPr algn="l"/>
            <a:r>
              <a:rPr sz="1400" b="1">
                <a:solidFill>
                  <a:srgbClr val="F59E0B"/>
                </a:solidFill>
                <a:latin typeface="Calibri"/>
              </a:rPr>
              <a:t>02</a:t>
            </a:r>
          </a:p>
        </p:txBody>
      </p:sp>
      <p:sp>
        <p:nvSpPr>
          <p:cNvPr id="17" name="TextBox 16"/>
          <p:cNvSpPr txBox="1"/>
          <p:nvPr/>
        </p:nvSpPr>
        <p:spPr>
          <a:xfrm>
            <a:off x="1188720" y="2660904"/>
            <a:ext cx="5943600" cy="256032"/>
          </a:xfrm>
          <a:prstGeom prst="rect">
            <a:avLst/>
          </a:prstGeom>
          <a:noFill/>
        </p:spPr>
        <p:txBody>
          <a:bodyPr wrap="square">
            <a:spAutoFit/>
          </a:bodyPr>
          <a:lstStyle/>
          <a:p>
            <a:pPr algn="l"/>
            <a:r>
              <a:rPr sz="1300" b="1" dirty="0">
                <a:solidFill>
                  <a:srgbClr val="F8FAFC"/>
                </a:solidFill>
                <a:latin typeface="Calibri"/>
              </a:rPr>
              <a:t>Coverage is modeled coverage</a:t>
            </a:r>
          </a:p>
        </p:txBody>
      </p:sp>
      <p:sp>
        <p:nvSpPr>
          <p:cNvPr id="18" name="TextBox 17"/>
          <p:cNvSpPr txBox="1"/>
          <p:nvPr/>
        </p:nvSpPr>
        <p:spPr>
          <a:xfrm>
            <a:off x="1188720" y="2907792"/>
            <a:ext cx="5943600" cy="292608"/>
          </a:xfrm>
          <a:prstGeom prst="rect">
            <a:avLst/>
          </a:prstGeom>
          <a:noFill/>
        </p:spPr>
        <p:txBody>
          <a:bodyPr wrap="square">
            <a:spAutoFit/>
          </a:bodyPr>
          <a:lstStyle/>
          <a:p>
            <a:pPr algn="l"/>
            <a:r>
              <a:rPr sz="1100" b="0" dirty="0">
                <a:solidFill>
                  <a:srgbClr val="94A3B8"/>
                </a:solidFill>
                <a:latin typeface="Calibri"/>
              </a:rPr>
              <a:t>Coverage is measured against modeled graph paths, requirements, risks, and evidence - not infinite real-world possibilities.</a:t>
            </a:r>
          </a:p>
        </p:txBody>
      </p:sp>
      <p:sp>
        <p:nvSpPr>
          <p:cNvPr id="19" name="Rounded Rectangle 18"/>
          <p:cNvSpPr/>
          <p:nvPr/>
        </p:nvSpPr>
        <p:spPr>
          <a:xfrm>
            <a:off x="502920" y="3300983"/>
            <a:ext cx="6858000" cy="694943"/>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3300984"/>
            <a:ext cx="64008" cy="66751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3447288"/>
            <a:ext cx="411480" cy="320040"/>
          </a:xfrm>
          <a:prstGeom prst="rect">
            <a:avLst/>
          </a:prstGeom>
          <a:noFill/>
        </p:spPr>
        <p:txBody>
          <a:bodyPr wrap="square">
            <a:spAutoFit/>
          </a:bodyPr>
          <a:lstStyle/>
          <a:p>
            <a:pPr algn="l"/>
            <a:r>
              <a:rPr sz="1400" b="1">
                <a:solidFill>
                  <a:srgbClr val="F5C542"/>
                </a:solidFill>
                <a:latin typeface="Calibri"/>
              </a:rPr>
              <a:t>03</a:t>
            </a:r>
          </a:p>
        </p:txBody>
      </p:sp>
      <p:sp>
        <p:nvSpPr>
          <p:cNvPr id="22" name="TextBox 21"/>
          <p:cNvSpPr txBox="1"/>
          <p:nvPr/>
        </p:nvSpPr>
        <p:spPr>
          <a:xfrm>
            <a:off x="1188720" y="3374136"/>
            <a:ext cx="5943600" cy="256032"/>
          </a:xfrm>
          <a:prstGeom prst="rect">
            <a:avLst/>
          </a:prstGeom>
          <a:noFill/>
        </p:spPr>
        <p:txBody>
          <a:bodyPr wrap="square">
            <a:spAutoFit/>
          </a:bodyPr>
          <a:lstStyle/>
          <a:p>
            <a:pPr algn="l"/>
            <a:r>
              <a:rPr sz="1300" b="1">
                <a:solidFill>
                  <a:srgbClr val="F8FAFC"/>
                </a:solidFill>
                <a:latin typeface="Calibri"/>
              </a:rPr>
              <a:t>Human QA approval is still required</a:t>
            </a:r>
          </a:p>
        </p:txBody>
      </p:sp>
      <p:sp>
        <p:nvSpPr>
          <p:cNvPr id="23" name="TextBox 22"/>
          <p:cNvSpPr txBox="1"/>
          <p:nvPr/>
        </p:nvSpPr>
        <p:spPr>
          <a:xfrm>
            <a:off x="1188720" y="3621024"/>
            <a:ext cx="5943600" cy="292608"/>
          </a:xfrm>
          <a:prstGeom prst="rect">
            <a:avLst/>
          </a:prstGeom>
          <a:noFill/>
        </p:spPr>
        <p:txBody>
          <a:bodyPr wrap="square">
            <a:spAutoFit/>
          </a:bodyPr>
          <a:lstStyle/>
          <a:p>
            <a:pPr algn="l"/>
            <a:r>
              <a:rPr sz="1100" b="0" dirty="0">
                <a:solidFill>
                  <a:srgbClr val="94A3B8"/>
                </a:solidFill>
                <a:latin typeface="Calibri"/>
              </a:rPr>
              <a:t>Candidate bugs, generated tests, and automation recommendations should be reviewed by QA experts before release use.</a:t>
            </a:r>
          </a:p>
        </p:txBody>
      </p:sp>
      <p:sp>
        <p:nvSpPr>
          <p:cNvPr id="24" name="Rounded Rectangle 23"/>
          <p:cNvSpPr/>
          <p:nvPr/>
        </p:nvSpPr>
        <p:spPr>
          <a:xfrm>
            <a:off x="502920" y="4014214"/>
            <a:ext cx="6858000" cy="685801"/>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4014215"/>
            <a:ext cx="64008" cy="67362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 y="4160519"/>
            <a:ext cx="411480" cy="320040"/>
          </a:xfrm>
          <a:prstGeom prst="rect">
            <a:avLst/>
          </a:prstGeom>
          <a:noFill/>
        </p:spPr>
        <p:txBody>
          <a:bodyPr wrap="square">
            <a:spAutoFit/>
          </a:bodyPr>
          <a:lstStyle/>
          <a:p>
            <a:pPr algn="l"/>
            <a:r>
              <a:rPr sz="1400" b="1">
                <a:solidFill>
                  <a:srgbClr val="38BDF8"/>
                </a:solidFill>
                <a:latin typeface="Calibri"/>
              </a:rPr>
              <a:t>04</a:t>
            </a:r>
          </a:p>
        </p:txBody>
      </p:sp>
      <p:sp>
        <p:nvSpPr>
          <p:cNvPr id="27" name="TextBox 26"/>
          <p:cNvSpPr txBox="1"/>
          <p:nvPr/>
        </p:nvSpPr>
        <p:spPr>
          <a:xfrm>
            <a:off x="1188720" y="4087367"/>
            <a:ext cx="5943600" cy="256032"/>
          </a:xfrm>
          <a:prstGeom prst="rect">
            <a:avLst/>
          </a:prstGeom>
          <a:noFill/>
        </p:spPr>
        <p:txBody>
          <a:bodyPr wrap="square">
            <a:spAutoFit/>
          </a:bodyPr>
          <a:lstStyle/>
          <a:p>
            <a:pPr algn="l"/>
            <a:r>
              <a:rPr sz="1300" b="1">
                <a:solidFill>
                  <a:srgbClr val="F8FAFC"/>
                </a:solidFill>
                <a:latin typeface="Calibri"/>
              </a:rPr>
              <a:t>Integration maturity</a:t>
            </a:r>
          </a:p>
        </p:txBody>
      </p:sp>
      <p:sp>
        <p:nvSpPr>
          <p:cNvPr id="28" name="TextBox 27"/>
          <p:cNvSpPr txBox="1"/>
          <p:nvPr/>
        </p:nvSpPr>
        <p:spPr>
          <a:xfrm>
            <a:off x="1188720" y="4334255"/>
            <a:ext cx="5943600" cy="292608"/>
          </a:xfrm>
          <a:prstGeom prst="rect">
            <a:avLst/>
          </a:prstGeom>
          <a:noFill/>
        </p:spPr>
        <p:txBody>
          <a:bodyPr wrap="square">
            <a:spAutoFit/>
          </a:bodyPr>
          <a:lstStyle/>
          <a:p>
            <a:pPr algn="l"/>
            <a:r>
              <a:rPr sz="1100" b="0">
                <a:solidFill>
                  <a:srgbClr val="94A3B8"/>
                </a:solidFill>
                <a:latin typeface="Calibri"/>
              </a:rPr>
              <a:t>Jira, Confluence, execution tools, and CI/CD need production-grade auth, sync, permissions, and monitoring.</a:t>
            </a:r>
          </a:p>
        </p:txBody>
      </p:sp>
      <p:sp>
        <p:nvSpPr>
          <p:cNvPr id="29" name="Rounded Rectangle 28"/>
          <p:cNvSpPr/>
          <p:nvPr/>
        </p:nvSpPr>
        <p:spPr>
          <a:xfrm>
            <a:off x="502920" y="4727448"/>
            <a:ext cx="6858000" cy="64008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4727448"/>
            <a:ext cx="64008" cy="64008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3232" y="4873752"/>
            <a:ext cx="411480" cy="320040"/>
          </a:xfrm>
          <a:prstGeom prst="rect">
            <a:avLst/>
          </a:prstGeom>
          <a:noFill/>
        </p:spPr>
        <p:txBody>
          <a:bodyPr wrap="square">
            <a:spAutoFit/>
          </a:bodyPr>
          <a:lstStyle/>
          <a:p>
            <a:pPr algn="l"/>
            <a:r>
              <a:rPr sz="1400" b="1">
                <a:solidFill>
                  <a:srgbClr val="A78BFA"/>
                </a:solidFill>
                <a:latin typeface="Calibri"/>
              </a:rPr>
              <a:t>05</a:t>
            </a:r>
          </a:p>
        </p:txBody>
      </p:sp>
      <p:sp>
        <p:nvSpPr>
          <p:cNvPr id="32" name="TextBox 31"/>
          <p:cNvSpPr txBox="1"/>
          <p:nvPr/>
        </p:nvSpPr>
        <p:spPr>
          <a:xfrm>
            <a:off x="1188720" y="4800600"/>
            <a:ext cx="5943600" cy="256032"/>
          </a:xfrm>
          <a:prstGeom prst="rect">
            <a:avLst/>
          </a:prstGeom>
          <a:noFill/>
        </p:spPr>
        <p:txBody>
          <a:bodyPr wrap="square">
            <a:spAutoFit/>
          </a:bodyPr>
          <a:lstStyle/>
          <a:p>
            <a:pPr algn="l"/>
            <a:r>
              <a:rPr sz="1300" b="1">
                <a:solidFill>
                  <a:srgbClr val="F8FAFC"/>
                </a:solidFill>
                <a:latin typeface="Calibri"/>
              </a:rPr>
              <a:t>Runtime and cost governance</a:t>
            </a:r>
          </a:p>
        </p:txBody>
      </p:sp>
      <p:sp>
        <p:nvSpPr>
          <p:cNvPr id="33" name="TextBox 32"/>
          <p:cNvSpPr txBox="1"/>
          <p:nvPr/>
        </p:nvSpPr>
        <p:spPr>
          <a:xfrm>
            <a:off x="1188720" y="5047488"/>
            <a:ext cx="5943600" cy="292608"/>
          </a:xfrm>
          <a:prstGeom prst="rect">
            <a:avLst/>
          </a:prstGeom>
          <a:noFill/>
        </p:spPr>
        <p:txBody>
          <a:bodyPr wrap="square">
            <a:spAutoFit/>
          </a:bodyPr>
          <a:lstStyle/>
          <a:p>
            <a:pPr algn="l"/>
            <a:r>
              <a:rPr sz="1100" b="0">
                <a:solidFill>
                  <a:srgbClr val="94A3B8"/>
                </a:solidFill>
                <a:latin typeface="Calibri"/>
              </a:rPr>
              <a:t>LLM usage requires model routing, rate-limit handling, fallbacks, observability, and cost controls.</a:t>
            </a:r>
          </a:p>
        </p:txBody>
      </p:sp>
      <p:sp>
        <p:nvSpPr>
          <p:cNvPr id="34" name="Oval 33"/>
          <p:cNvSpPr/>
          <p:nvPr/>
        </p:nvSpPr>
        <p:spPr>
          <a:xfrm>
            <a:off x="7635240" y="1234440"/>
            <a:ext cx="4023360" cy="4023360"/>
          </a:xfrm>
          <a:prstGeom prst="ellipse">
            <a:avLst/>
          </a:prstGeom>
          <a:solidFill>
            <a:srgbClr val="101828"/>
          </a:solidFill>
          <a:ln w="19050">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115300" y="1714500"/>
            <a:ext cx="3063240" cy="3063240"/>
          </a:xfrm>
          <a:prstGeom prst="ellipse">
            <a:avLst/>
          </a:prstGeom>
          <a:solidFill>
            <a:srgbClr val="121C2E"/>
          </a:solidFill>
          <a:ln w="19050">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618220" y="2217420"/>
            <a:ext cx="2057400" cy="2057400"/>
          </a:xfrm>
          <a:prstGeom prst="ellipse">
            <a:avLst/>
          </a:prstGeom>
          <a:solidFill>
            <a:srgbClr val="142034"/>
          </a:solidFill>
          <a:ln w="19050">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726680" y="3236595"/>
            <a:ext cx="3840480" cy="19050"/>
          </a:xfrm>
          <a:prstGeom prst="rect">
            <a:avLst/>
          </a:prstGeom>
          <a:solidFill>
            <a:srgbClr val="2A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637395" y="1325880"/>
            <a:ext cx="19050" cy="3840480"/>
          </a:xfrm>
          <a:prstGeom prst="rect">
            <a:avLst/>
          </a:prstGeom>
          <a:solidFill>
            <a:srgbClr val="2A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938260" y="2537460"/>
            <a:ext cx="1417320" cy="1417320"/>
          </a:xfrm>
          <a:prstGeom prst="ellipse">
            <a:avLst/>
          </a:prstGeom>
          <a:solidFill>
            <a:srgbClr val="122A3A"/>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869680" y="2880360"/>
            <a:ext cx="1554480" cy="731520"/>
          </a:xfrm>
          <a:prstGeom prst="rect">
            <a:avLst/>
          </a:prstGeom>
          <a:noFill/>
        </p:spPr>
        <p:txBody>
          <a:bodyPr wrap="square">
            <a:spAutoFit/>
          </a:bodyPr>
          <a:lstStyle/>
          <a:p>
            <a:pPr algn="ctr"/>
            <a:r>
              <a:rPr sz="1200" b="1">
                <a:solidFill>
                  <a:srgbClr val="2DD4BF"/>
                </a:solidFill>
                <a:latin typeface="Calibri"/>
              </a:rPr>
              <a:t>Agentic QA</a:t>
            </a:r>
          </a:p>
          <a:p>
            <a:pPr algn="ctr"/>
            <a:r>
              <a:rPr sz="1200" b="1">
                <a:solidFill>
                  <a:srgbClr val="2DD4BF"/>
                </a:solidFill>
                <a:latin typeface="Calibri"/>
              </a:rPr>
              <a:t>Copilot Core</a:t>
            </a:r>
          </a:p>
          <a:p>
            <a:pPr algn="ctr"/>
            <a:r>
              <a:rPr sz="1100" b="0">
                <a:solidFill>
                  <a:srgbClr val="CBD5E1"/>
                </a:solidFill>
                <a:latin typeface="Calibri"/>
              </a:rPr>
              <a:t>Demo</a:t>
            </a:r>
          </a:p>
        </p:txBody>
      </p:sp>
      <p:sp>
        <p:nvSpPr>
          <p:cNvPr id="41" name="Oval 40"/>
          <p:cNvSpPr/>
          <p:nvPr/>
        </p:nvSpPr>
        <p:spPr>
          <a:xfrm>
            <a:off x="9573768" y="1481328"/>
            <a:ext cx="146304" cy="146304"/>
          </a:xfrm>
          <a:prstGeom prst="ellipse">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938260" y="1303020"/>
            <a:ext cx="1417320" cy="502920"/>
          </a:xfrm>
          <a:prstGeom prst="roundRect">
            <a:avLst>
              <a:gd name="adj" fmla="val 20000"/>
            </a:avLst>
          </a:prstGeom>
          <a:solidFill>
            <a:srgbClr val="151C2E"/>
          </a:solidFill>
          <a:ln w="15875">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938260" y="1412748"/>
            <a:ext cx="1417320" cy="320040"/>
          </a:xfrm>
          <a:prstGeom prst="rect">
            <a:avLst/>
          </a:prstGeom>
          <a:noFill/>
        </p:spPr>
        <p:txBody>
          <a:bodyPr wrap="square">
            <a:spAutoFit/>
          </a:bodyPr>
          <a:lstStyle/>
          <a:p>
            <a:pPr algn="ctr"/>
            <a:r>
              <a:rPr sz="1000" b="1">
                <a:solidFill>
                  <a:srgbClr val="F87171"/>
                </a:solidFill>
                <a:latin typeface="Calibri"/>
              </a:rPr>
              <a:t>Input Quality</a:t>
            </a:r>
          </a:p>
        </p:txBody>
      </p:sp>
      <p:sp>
        <p:nvSpPr>
          <p:cNvPr id="44" name="Oval 43"/>
          <p:cNvSpPr/>
          <p:nvPr/>
        </p:nvSpPr>
        <p:spPr>
          <a:xfrm>
            <a:off x="11182613" y="265022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0547105" y="2471915"/>
            <a:ext cx="1417320" cy="502920"/>
          </a:xfrm>
          <a:prstGeom prst="roundRect">
            <a:avLst>
              <a:gd name="adj" fmla="val 20000"/>
            </a:avLst>
          </a:prstGeom>
          <a:solidFill>
            <a:srgbClr val="151C2E"/>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547105" y="2581643"/>
            <a:ext cx="1417320" cy="320040"/>
          </a:xfrm>
          <a:prstGeom prst="rect">
            <a:avLst/>
          </a:prstGeom>
          <a:noFill/>
        </p:spPr>
        <p:txBody>
          <a:bodyPr wrap="square">
            <a:spAutoFit/>
          </a:bodyPr>
          <a:lstStyle/>
          <a:p>
            <a:pPr algn="ctr"/>
            <a:r>
              <a:rPr sz="1000" b="1">
                <a:solidFill>
                  <a:srgbClr val="F59E0B"/>
                </a:solidFill>
                <a:latin typeface="Calibri"/>
              </a:rPr>
              <a:t>Modeled Coverage</a:t>
            </a:r>
          </a:p>
        </p:txBody>
      </p:sp>
      <p:sp>
        <p:nvSpPr>
          <p:cNvPr id="47" name="Oval 46"/>
          <p:cNvSpPr/>
          <p:nvPr/>
        </p:nvSpPr>
        <p:spPr>
          <a:xfrm>
            <a:off x="10568089" y="4541533"/>
            <a:ext cx="146304" cy="146304"/>
          </a:xfrm>
          <a:prstGeom prst="ellipse">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932581" y="4363225"/>
            <a:ext cx="1417320" cy="502920"/>
          </a:xfrm>
          <a:prstGeom prst="roundRect">
            <a:avLst>
              <a:gd name="adj" fmla="val 20000"/>
            </a:avLst>
          </a:prstGeom>
          <a:solidFill>
            <a:srgbClr val="151C2E"/>
          </a:solidFill>
          <a:ln w="15875">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932581" y="4472953"/>
            <a:ext cx="1417320" cy="320040"/>
          </a:xfrm>
          <a:prstGeom prst="rect">
            <a:avLst/>
          </a:prstGeom>
          <a:noFill/>
        </p:spPr>
        <p:txBody>
          <a:bodyPr wrap="square">
            <a:spAutoFit/>
          </a:bodyPr>
          <a:lstStyle/>
          <a:p>
            <a:pPr algn="ctr"/>
            <a:r>
              <a:rPr sz="1000" b="1">
                <a:solidFill>
                  <a:srgbClr val="F5C542"/>
                </a:solidFill>
                <a:latin typeface="Calibri"/>
              </a:rPr>
              <a:t>Human Review</a:t>
            </a:r>
          </a:p>
        </p:txBody>
      </p:sp>
      <p:sp>
        <p:nvSpPr>
          <p:cNvPr id="50" name="Oval 49"/>
          <p:cNvSpPr/>
          <p:nvPr/>
        </p:nvSpPr>
        <p:spPr>
          <a:xfrm>
            <a:off x="8579447" y="4541533"/>
            <a:ext cx="146304" cy="146304"/>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7943939" y="4363225"/>
            <a:ext cx="1417320" cy="502920"/>
          </a:xfrm>
          <a:prstGeom prst="roundRect">
            <a:avLst>
              <a:gd name="adj" fmla="val 20000"/>
            </a:avLst>
          </a:prstGeom>
          <a:solidFill>
            <a:srgbClr val="151C2E"/>
          </a:solidFill>
          <a:ln w="1587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943939" y="4472953"/>
            <a:ext cx="1417320" cy="320040"/>
          </a:xfrm>
          <a:prstGeom prst="rect">
            <a:avLst/>
          </a:prstGeom>
          <a:noFill/>
        </p:spPr>
        <p:txBody>
          <a:bodyPr wrap="square">
            <a:spAutoFit/>
          </a:bodyPr>
          <a:lstStyle/>
          <a:p>
            <a:pPr algn="ctr"/>
            <a:r>
              <a:rPr sz="1000" b="1">
                <a:solidFill>
                  <a:srgbClr val="38BDF8"/>
                </a:solidFill>
                <a:latin typeface="Calibri"/>
              </a:rPr>
              <a:t>Integrations</a:t>
            </a:r>
          </a:p>
        </p:txBody>
      </p:sp>
      <p:sp>
        <p:nvSpPr>
          <p:cNvPr id="53" name="Oval 52"/>
          <p:cNvSpPr/>
          <p:nvPr/>
        </p:nvSpPr>
        <p:spPr>
          <a:xfrm>
            <a:off x="7964923" y="2650223"/>
            <a:ext cx="146304" cy="146304"/>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7381802" y="2471915"/>
            <a:ext cx="1417320" cy="502920"/>
          </a:xfrm>
          <a:prstGeom prst="roundRect">
            <a:avLst>
              <a:gd name="adj" fmla="val 20000"/>
            </a:avLst>
          </a:prstGeom>
          <a:solidFill>
            <a:srgbClr val="151C2E"/>
          </a:solidFill>
          <a:ln w="1587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329415" y="2581643"/>
            <a:ext cx="1417320" cy="320040"/>
          </a:xfrm>
          <a:prstGeom prst="rect">
            <a:avLst/>
          </a:prstGeom>
          <a:noFill/>
        </p:spPr>
        <p:txBody>
          <a:bodyPr wrap="square">
            <a:spAutoFit/>
          </a:bodyPr>
          <a:lstStyle/>
          <a:p>
            <a:pPr algn="ctr"/>
            <a:r>
              <a:rPr sz="1000" b="1">
                <a:solidFill>
                  <a:srgbClr val="A78BFA"/>
                </a:solidFill>
                <a:latin typeface="Calibri"/>
              </a:rPr>
              <a:t>Runtime Governance</a:t>
            </a:r>
          </a:p>
        </p:txBody>
      </p:sp>
      <p:sp>
        <p:nvSpPr>
          <p:cNvPr id="56" name="Rounded Rectangle 55"/>
          <p:cNvSpPr/>
          <p:nvPr/>
        </p:nvSpPr>
        <p:spPr>
          <a:xfrm>
            <a:off x="502920" y="5623560"/>
            <a:ext cx="11155680" cy="777240"/>
          </a:xfrm>
          <a:prstGeom prst="roundRect">
            <a:avLst>
              <a:gd name="adj" fmla="val 8000"/>
            </a:avLst>
          </a:prstGeom>
          <a:solidFill>
            <a:srgbClr val="101828"/>
          </a:solidFill>
          <a:ln w="1587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31520" y="5742432"/>
            <a:ext cx="10698480" cy="548640"/>
          </a:xfrm>
          <a:prstGeom prst="rect">
            <a:avLst/>
          </a:prstGeom>
          <a:noFill/>
        </p:spPr>
        <p:txBody>
          <a:bodyPr wrap="square">
            <a:spAutoFit/>
          </a:bodyPr>
          <a:lstStyle/>
          <a:p>
            <a:pPr algn="ctr"/>
            <a:r>
              <a:rPr sz="1400" b="1">
                <a:solidFill>
                  <a:srgbClr val="F8FAFC"/>
                </a:solidFill>
                <a:latin typeface="Calibri"/>
              </a:rPr>
              <a:t>Current demo = context-aware QA intelligence.</a:t>
            </a:r>
          </a:p>
          <a:p>
            <a:pPr algn="ctr"/>
            <a:r>
              <a:rPr sz="1400" b="1">
                <a:solidFill>
                  <a:srgbClr val="2DD4BF"/>
                </a:solidFill>
                <a:latin typeface="Calibri"/>
              </a:rPr>
              <a:t>Next step = continuous enterprise QA platform.</a:t>
            </a:r>
          </a:p>
        </p:txBody>
      </p:sp>
      <p:sp>
        <p:nvSpPr>
          <p:cNvPr id="58" name="TextBox 57"/>
          <p:cNvSpPr txBox="1"/>
          <p:nvPr/>
        </p:nvSpPr>
        <p:spPr>
          <a:xfrm>
            <a:off x="10607040" y="6473952"/>
            <a:ext cx="1280160" cy="256032"/>
          </a:xfrm>
          <a:prstGeom prst="rect">
            <a:avLst/>
          </a:prstGeom>
          <a:noFill/>
        </p:spPr>
        <p:txBody>
          <a:bodyPr wrap="square">
            <a:spAutoFit/>
          </a:bodyPr>
          <a:lstStyle/>
          <a:p>
            <a:pPr algn="r"/>
            <a:r>
              <a:rPr sz="1100" b="0">
                <a:solidFill>
                  <a:srgbClr val="64748B"/>
                </a:solidFill>
                <a:latin typeface="Calibri"/>
              </a:rPr>
              <a:t>7  /  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B12"/>
          </a:solidFill>
          <a:ln/>
        </p:spPr>
        <p:txBody>
          <a:bodyPr/>
          <a:lstStyle/>
          <a:p>
            <a:endParaRPr lang="en-IN"/>
          </a:p>
        </p:txBody>
      </p:sp>
      <p:sp>
        <p:nvSpPr>
          <p:cNvPr id="3" name="Shape 1"/>
          <p:cNvSpPr/>
          <p:nvPr/>
        </p:nvSpPr>
        <p:spPr>
          <a:xfrm>
            <a:off x="0" y="0"/>
            <a:ext cx="12191695" cy="54864"/>
          </a:xfrm>
          <a:prstGeom prst="rect">
            <a:avLst/>
          </a:prstGeom>
          <a:solidFill>
            <a:srgbClr val="7C3AED"/>
          </a:solidFill>
          <a:ln/>
        </p:spPr>
        <p:txBody>
          <a:bodyPr/>
          <a:lstStyle/>
          <a:p>
            <a:endParaRPr lang="en-IN"/>
          </a:p>
        </p:txBody>
      </p:sp>
      <p:sp>
        <p:nvSpPr>
          <p:cNvPr id="4" name="Text 2"/>
          <p:cNvSpPr/>
          <p:nvPr/>
        </p:nvSpPr>
        <p:spPr>
          <a:xfrm>
            <a:off x="502920" y="201168"/>
            <a:ext cx="5486400" cy="457200"/>
          </a:xfrm>
          <a:prstGeom prst="rect">
            <a:avLst/>
          </a:prstGeom>
          <a:noFill/>
          <a:ln/>
        </p:spPr>
        <p:txBody>
          <a:bodyPr wrap="square" rtlCol="0" anchor="ctr"/>
          <a:lstStyle/>
          <a:p>
            <a:pPr marL="0" indent="0">
              <a:buNone/>
            </a:pPr>
            <a:r>
              <a:rPr lang="en-US" sz="3600" b="1" dirty="0">
                <a:solidFill>
                  <a:srgbClr val="F8FAFC"/>
                </a:solidFill>
                <a:latin typeface="Arial" pitchFamily="34" charset="0"/>
                <a:ea typeface="Arial" pitchFamily="34" charset="-122"/>
                <a:cs typeface="Arial" pitchFamily="34" charset="-120"/>
              </a:rPr>
              <a:t>Future Scope</a:t>
            </a:r>
            <a:endParaRPr lang="en-US" sz="3600" dirty="0"/>
          </a:p>
        </p:txBody>
      </p:sp>
      <p:sp>
        <p:nvSpPr>
          <p:cNvPr id="5" name="Text 3"/>
          <p:cNvSpPr/>
          <p:nvPr/>
        </p:nvSpPr>
        <p:spPr>
          <a:xfrm>
            <a:off x="502920" y="685800"/>
            <a:ext cx="6858000" cy="320040"/>
          </a:xfrm>
          <a:prstGeom prst="rect">
            <a:avLst/>
          </a:prstGeom>
          <a:noFill/>
          <a:ln/>
        </p:spPr>
        <p:txBody>
          <a:bodyPr wrap="square" rtlCol="0" anchor="ctr"/>
          <a:lstStyle/>
          <a:p>
            <a:pPr marL="0" indent="0">
              <a:buNone/>
            </a:pPr>
            <a:r>
              <a:rPr lang="en-US" sz="1500" i="1" dirty="0">
                <a:solidFill>
                  <a:srgbClr val="CBD5E1"/>
                </a:solidFill>
                <a:latin typeface="Arial" pitchFamily="34" charset="0"/>
                <a:ea typeface="Arial" pitchFamily="34" charset="-122"/>
                <a:cs typeface="Arial" pitchFamily="34" charset="-120"/>
              </a:rPr>
              <a:t>From QA assistant to continuous AI QA platform</a:t>
            </a:r>
            <a:endParaRPr lang="en-US" sz="1500" dirty="0"/>
          </a:p>
        </p:txBody>
      </p:sp>
      <p:sp>
        <p:nvSpPr>
          <p:cNvPr id="6" name="Shape 4"/>
          <p:cNvSpPr/>
          <p:nvPr/>
        </p:nvSpPr>
        <p:spPr>
          <a:xfrm>
            <a:off x="502920" y="1051560"/>
            <a:ext cx="640080" cy="50292"/>
          </a:xfrm>
          <a:prstGeom prst="rect">
            <a:avLst/>
          </a:prstGeom>
          <a:solidFill>
            <a:srgbClr val="06B6D4"/>
          </a:solidFill>
          <a:ln/>
        </p:spPr>
        <p:txBody>
          <a:bodyPr/>
          <a:lstStyle/>
          <a:p>
            <a:endParaRPr lang="en-IN"/>
          </a:p>
        </p:txBody>
      </p:sp>
      <p:sp>
        <p:nvSpPr>
          <p:cNvPr id="7" name="Shape 5"/>
          <p:cNvSpPr/>
          <p:nvPr/>
        </p:nvSpPr>
        <p:spPr>
          <a:xfrm>
            <a:off x="640080" y="1600200"/>
            <a:ext cx="10881360" cy="36576"/>
          </a:xfrm>
          <a:prstGeom prst="rect">
            <a:avLst/>
          </a:prstGeom>
          <a:solidFill>
            <a:srgbClr val="7C3AED"/>
          </a:solidFill>
          <a:ln/>
        </p:spPr>
        <p:txBody>
          <a:bodyPr/>
          <a:lstStyle/>
          <a:p>
            <a:endParaRPr lang="en-IN"/>
          </a:p>
        </p:txBody>
      </p:sp>
      <p:sp>
        <p:nvSpPr>
          <p:cNvPr id="8" name="Shape 6"/>
          <p:cNvSpPr/>
          <p:nvPr/>
        </p:nvSpPr>
        <p:spPr>
          <a:xfrm>
            <a:off x="1097280" y="1481328"/>
            <a:ext cx="274320" cy="274320"/>
          </a:xfrm>
          <a:prstGeom prst="ellipse">
            <a:avLst/>
          </a:prstGeom>
          <a:solidFill>
            <a:srgbClr val="7C3AED"/>
          </a:solidFill>
          <a:ln w="25400">
            <a:solidFill>
              <a:srgbClr val="080B12"/>
            </a:solidFill>
            <a:prstDash val="solid"/>
          </a:ln>
        </p:spPr>
        <p:txBody>
          <a:bodyPr/>
          <a:lstStyle/>
          <a:p>
            <a:endParaRPr lang="en-IN"/>
          </a:p>
        </p:txBody>
      </p:sp>
      <p:sp>
        <p:nvSpPr>
          <p:cNvPr id="9" name="Text 7"/>
          <p:cNvSpPr/>
          <p:nvPr/>
        </p:nvSpPr>
        <p:spPr>
          <a:xfrm>
            <a:off x="1097280" y="1481328"/>
            <a:ext cx="274320" cy="274320"/>
          </a:xfrm>
          <a:prstGeom prst="rect">
            <a:avLst/>
          </a:prstGeom>
          <a:noFill/>
          <a:ln/>
        </p:spPr>
        <p:txBody>
          <a:bodyPr wrap="square" rtlCol="0" anchor="ctr"/>
          <a:lstStyle/>
          <a:p>
            <a:pPr marL="0" indent="0" algn="ctr">
              <a:buNone/>
            </a:pPr>
            <a:r>
              <a:rPr lang="en-US" sz="1100" b="1" dirty="0">
                <a:solidFill>
                  <a:srgbClr val="F8FAFC"/>
                </a:solidFill>
                <a:latin typeface="Arial" pitchFamily="34" charset="0"/>
                <a:ea typeface="Arial" pitchFamily="34" charset="-122"/>
                <a:cs typeface="Arial" pitchFamily="34" charset="-120"/>
              </a:rPr>
              <a:t>1</a:t>
            </a:r>
            <a:endParaRPr lang="en-US" sz="1100" dirty="0"/>
          </a:p>
        </p:txBody>
      </p:sp>
      <p:sp>
        <p:nvSpPr>
          <p:cNvPr id="10" name="Shape 8"/>
          <p:cNvSpPr/>
          <p:nvPr/>
        </p:nvSpPr>
        <p:spPr>
          <a:xfrm>
            <a:off x="411480" y="1965960"/>
            <a:ext cx="1874520" cy="3063240"/>
          </a:xfrm>
          <a:prstGeom prst="roundRect">
            <a:avLst>
              <a:gd name="adj" fmla="val 4878"/>
            </a:avLst>
          </a:prstGeom>
          <a:solidFill>
            <a:srgbClr val="151C2E"/>
          </a:solidFill>
          <a:ln w="12700">
            <a:solidFill>
              <a:srgbClr val="7C3AED"/>
            </a:solidFill>
            <a:prstDash val="solid"/>
          </a:ln>
        </p:spPr>
        <p:txBody>
          <a:bodyPr/>
          <a:lstStyle/>
          <a:p>
            <a:endParaRPr lang="en-IN"/>
          </a:p>
        </p:txBody>
      </p:sp>
      <p:sp>
        <p:nvSpPr>
          <p:cNvPr id="11" name="Text 9"/>
          <p:cNvSpPr/>
          <p:nvPr/>
        </p:nvSpPr>
        <p:spPr>
          <a:xfrm>
            <a:off x="502920" y="2148840"/>
            <a:ext cx="1691640" cy="77724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Deeper Jira +</a:t>
            </a:r>
            <a:endParaRPr lang="en-US" sz="1300" dirty="0"/>
          </a:p>
          <a:p>
            <a:pPr marL="0" indent="0" algn="ctr">
              <a:buNone/>
            </a:pPr>
            <a:r>
              <a:rPr lang="en-US" sz="1300" b="1" dirty="0">
                <a:solidFill>
                  <a:srgbClr val="F8FAFC"/>
                </a:solidFill>
                <a:latin typeface="Arial" pitchFamily="34" charset="0"/>
                <a:ea typeface="Arial" pitchFamily="34" charset="-122"/>
                <a:cs typeface="Arial" pitchFamily="34" charset="-120"/>
              </a:rPr>
              <a:t>Confluence</a:t>
            </a:r>
            <a:endParaRPr lang="en-US" sz="1300" dirty="0"/>
          </a:p>
        </p:txBody>
      </p:sp>
      <p:sp>
        <p:nvSpPr>
          <p:cNvPr id="12" name="Text 10"/>
          <p:cNvSpPr/>
          <p:nvPr/>
        </p:nvSpPr>
        <p:spPr>
          <a:xfrm>
            <a:off x="521208" y="3063240"/>
            <a:ext cx="1645920" cy="173736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Auto-sync epics, stories, acceptance criteria, and product docs.</a:t>
            </a:r>
            <a:endParaRPr lang="en-US" sz="1200" dirty="0"/>
          </a:p>
        </p:txBody>
      </p:sp>
      <p:sp>
        <p:nvSpPr>
          <p:cNvPr id="13" name="Shape 11"/>
          <p:cNvSpPr/>
          <p:nvPr/>
        </p:nvSpPr>
        <p:spPr>
          <a:xfrm>
            <a:off x="3063240" y="1481328"/>
            <a:ext cx="274320" cy="274320"/>
          </a:xfrm>
          <a:prstGeom prst="ellipse">
            <a:avLst/>
          </a:prstGeom>
          <a:solidFill>
            <a:srgbClr val="06B6D4"/>
          </a:solidFill>
          <a:ln w="25400">
            <a:solidFill>
              <a:srgbClr val="080B12"/>
            </a:solidFill>
            <a:prstDash val="solid"/>
          </a:ln>
        </p:spPr>
        <p:txBody>
          <a:bodyPr/>
          <a:lstStyle/>
          <a:p>
            <a:endParaRPr lang="en-IN"/>
          </a:p>
        </p:txBody>
      </p:sp>
      <p:sp>
        <p:nvSpPr>
          <p:cNvPr id="14" name="Text 12"/>
          <p:cNvSpPr/>
          <p:nvPr/>
        </p:nvSpPr>
        <p:spPr>
          <a:xfrm>
            <a:off x="3063240" y="1481328"/>
            <a:ext cx="274320" cy="274320"/>
          </a:xfrm>
          <a:prstGeom prst="rect">
            <a:avLst/>
          </a:prstGeom>
          <a:noFill/>
          <a:ln/>
        </p:spPr>
        <p:txBody>
          <a:bodyPr wrap="square" rtlCol="0" anchor="ctr"/>
          <a:lstStyle/>
          <a:p>
            <a:pPr marL="0" indent="0" algn="ctr">
              <a:buNone/>
            </a:pPr>
            <a:r>
              <a:rPr lang="en-US" sz="1100" b="1" dirty="0">
                <a:solidFill>
                  <a:srgbClr val="F8FAFC"/>
                </a:solidFill>
                <a:latin typeface="Arial" pitchFamily="34" charset="0"/>
                <a:ea typeface="Arial" pitchFamily="34" charset="-122"/>
                <a:cs typeface="Arial" pitchFamily="34" charset="-120"/>
              </a:rPr>
              <a:t>2</a:t>
            </a:r>
            <a:endParaRPr lang="en-US" sz="1100" dirty="0"/>
          </a:p>
        </p:txBody>
      </p:sp>
      <p:sp>
        <p:nvSpPr>
          <p:cNvPr id="15" name="Shape 13"/>
          <p:cNvSpPr/>
          <p:nvPr/>
        </p:nvSpPr>
        <p:spPr>
          <a:xfrm>
            <a:off x="2377440" y="1965960"/>
            <a:ext cx="1874520" cy="3063240"/>
          </a:xfrm>
          <a:prstGeom prst="roundRect">
            <a:avLst>
              <a:gd name="adj" fmla="val 4878"/>
            </a:avLst>
          </a:prstGeom>
          <a:solidFill>
            <a:srgbClr val="151C2E"/>
          </a:solidFill>
          <a:ln w="12700">
            <a:solidFill>
              <a:srgbClr val="06B6D4"/>
            </a:solidFill>
            <a:prstDash val="solid"/>
          </a:ln>
        </p:spPr>
        <p:txBody>
          <a:bodyPr/>
          <a:lstStyle/>
          <a:p>
            <a:endParaRPr lang="en-IN"/>
          </a:p>
        </p:txBody>
      </p:sp>
      <p:sp>
        <p:nvSpPr>
          <p:cNvPr id="16" name="Text 14"/>
          <p:cNvSpPr/>
          <p:nvPr/>
        </p:nvSpPr>
        <p:spPr>
          <a:xfrm>
            <a:off x="2468880" y="2148840"/>
            <a:ext cx="1691640" cy="77724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Test Execution</a:t>
            </a:r>
            <a:endParaRPr lang="en-US" sz="1300" dirty="0"/>
          </a:p>
          <a:p>
            <a:pPr marL="0" indent="0" algn="ctr">
              <a:buNone/>
            </a:pPr>
            <a:r>
              <a:rPr lang="en-US" sz="1300" b="1" dirty="0">
                <a:solidFill>
                  <a:srgbClr val="F8FAFC"/>
                </a:solidFill>
                <a:latin typeface="Arial" pitchFamily="34" charset="0"/>
                <a:ea typeface="Arial" pitchFamily="34" charset="-122"/>
                <a:cs typeface="Arial" pitchFamily="34" charset="-120"/>
              </a:rPr>
              <a:t>Integration</a:t>
            </a:r>
            <a:endParaRPr lang="en-US" sz="1300" dirty="0"/>
          </a:p>
        </p:txBody>
      </p:sp>
      <p:sp>
        <p:nvSpPr>
          <p:cNvPr id="17" name="Text 15"/>
          <p:cNvSpPr/>
          <p:nvPr/>
        </p:nvSpPr>
        <p:spPr>
          <a:xfrm>
            <a:off x="2487168" y="3063240"/>
            <a:ext cx="1645920" cy="173736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Connect Playwright, Selenium, Cypress, Postman, and CI/CD.</a:t>
            </a:r>
            <a:endParaRPr lang="en-US" sz="1200" dirty="0"/>
          </a:p>
        </p:txBody>
      </p:sp>
      <p:sp>
        <p:nvSpPr>
          <p:cNvPr id="18" name="Shape 16"/>
          <p:cNvSpPr/>
          <p:nvPr/>
        </p:nvSpPr>
        <p:spPr>
          <a:xfrm>
            <a:off x="5029200" y="1481328"/>
            <a:ext cx="274320" cy="274320"/>
          </a:xfrm>
          <a:prstGeom prst="ellipse">
            <a:avLst/>
          </a:prstGeom>
          <a:solidFill>
            <a:srgbClr val="F59E0B"/>
          </a:solidFill>
          <a:ln w="25400">
            <a:solidFill>
              <a:srgbClr val="080B12"/>
            </a:solidFill>
            <a:prstDash val="solid"/>
          </a:ln>
        </p:spPr>
        <p:txBody>
          <a:bodyPr/>
          <a:lstStyle/>
          <a:p>
            <a:endParaRPr lang="en-IN"/>
          </a:p>
        </p:txBody>
      </p:sp>
      <p:sp>
        <p:nvSpPr>
          <p:cNvPr id="19" name="Text 17"/>
          <p:cNvSpPr/>
          <p:nvPr/>
        </p:nvSpPr>
        <p:spPr>
          <a:xfrm>
            <a:off x="5029200" y="1481328"/>
            <a:ext cx="274320" cy="274320"/>
          </a:xfrm>
          <a:prstGeom prst="rect">
            <a:avLst/>
          </a:prstGeom>
          <a:noFill/>
          <a:ln/>
        </p:spPr>
        <p:txBody>
          <a:bodyPr wrap="square" rtlCol="0" anchor="ctr"/>
          <a:lstStyle/>
          <a:p>
            <a:pPr marL="0" indent="0" algn="ctr">
              <a:buNone/>
            </a:pPr>
            <a:r>
              <a:rPr lang="en-US" sz="1100" b="1" dirty="0">
                <a:solidFill>
                  <a:srgbClr val="F8FAFC"/>
                </a:solidFill>
                <a:latin typeface="Arial" pitchFamily="34" charset="0"/>
                <a:ea typeface="Arial" pitchFamily="34" charset="-122"/>
                <a:cs typeface="Arial" pitchFamily="34" charset="-120"/>
              </a:rPr>
              <a:t>3</a:t>
            </a:r>
            <a:endParaRPr lang="en-US" sz="1100" dirty="0"/>
          </a:p>
        </p:txBody>
      </p:sp>
      <p:sp>
        <p:nvSpPr>
          <p:cNvPr id="20" name="Shape 18"/>
          <p:cNvSpPr/>
          <p:nvPr/>
        </p:nvSpPr>
        <p:spPr>
          <a:xfrm>
            <a:off x="4343400" y="1965960"/>
            <a:ext cx="1874520" cy="3063240"/>
          </a:xfrm>
          <a:prstGeom prst="roundRect">
            <a:avLst>
              <a:gd name="adj" fmla="val 4878"/>
            </a:avLst>
          </a:prstGeom>
          <a:solidFill>
            <a:srgbClr val="151C2E"/>
          </a:solidFill>
          <a:ln w="12700">
            <a:solidFill>
              <a:srgbClr val="F59E0B"/>
            </a:solidFill>
            <a:prstDash val="solid"/>
          </a:ln>
        </p:spPr>
        <p:txBody>
          <a:bodyPr/>
          <a:lstStyle/>
          <a:p>
            <a:endParaRPr lang="en-IN"/>
          </a:p>
        </p:txBody>
      </p:sp>
      <p:sp>
        <p:nvSpPr>
          <p:cNvPr id="21" name="Text 19"/>
          <p:cNvSpPr/>
          <p:nvPr/>
        </p:nvSpPr>
        <p:spPr>
          <a:xfrm>
            <a:off x="4434840" y="2148840"/>
            <a:ext cx="1691640" cy="77724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Automated Script</a:t>
            </a:r>
            <a:endParaRPr lang="en-US" sz="1300" dirty="0"/>
          </a:p>
          <a:p>
            <a:pPr marL="0" indent="0" algn="ctr">
              <a:buNone/>
            </a:pPr>
            <a:r>
              <a:rPr lang="en-US" sz="1300" b="1" dirty="0">
                <a:solidFill>
                  <a:srgbClr val="F8FAFC"/>
                </a:solidFill>
                <a:latin typeface="Arial" pitchFamily="34" charset="0"/>
                <a:ea typeface="Arial" pitchFamily="34" charset="-122"/>
                <a:cs typeface="Arial" pitchFamily="34" charset="-120"/>
              </a:rPr>
              <a:t>Generation</a:t>
            </a:r>
            <a:endParaRPr lang="en-US" sz="1300" dirty="0"/>
          </a:p>
        </p:txBody>
      </p:sp>
      <p:sp>
        <p:nvSpPr>
          <p:cNvPr id="22" name="Text 20"/>
          <p:cNvSpPr/>
          <p:nvPr/>
        </p:nvSpPr>
        <p:spPr>
          <a:xfrm>
            <a:off x="4453128" y="3063240"/>
            <a:ext cx="1645920" cy="173736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Convert approved BDD into runnable automation code.</a:t>
            </a:r>
            <a:endParaRPr lang="en-US" sz="1200" dirty="0"/>
          </a:p>
        </p:txBody>
      </p:sp>
      <p:sp>
        <p:nvSpPr>
          <p:cNvPr id="23" name="Shape 21"/>
          <p:cNvSpPr/>
          <p:nvPr/>
        </p:nvSpPr>
        <p:spPr>
          <a:xfrm>
            <a:off x="6995160" y="1481328"/>
            <a:ext cx="274320" cy="274320"/>
          </a:xfrm>
          <a:prstGeom prst="ellipse">
            <a:avLst/>
          </a:prstGeom>
          <a:solidFill>
            <a:srgbClr val="7C3AED"/>
          </a:solidFill>
          <a:ln w="25400">
            <a:solidFill>
              <a:srgbClr val="080B12"/>
            </a:solidFill>
            <a:prstDash val="solid"/>
          </a:ln>
        </p:spPr>
        <p:txBody>
          <a:bodyPr/>
          <a:lstStyle/>
          <a:p>
            <a:endParaRPr lang="en-IN"/>
          </a:p>
        </p:txBody>
      </p:sp>
      <p:sp>
        <p:nvSpPr>
          <p:cNvPr id="24" name="Text 22"/>
          <p:cNvSpPr/>
          <p:nvPr/>
        </p:nvSpPr>
        <p:spPr>
          <a:xfrm>
            <a:off x="6995160" y="1481328"/>
            <a:ext cx="274320" cy="274320"/>
          </a:xfrm>
          <a:prstGeom prst="rect">
            <a:avLst/>
          </a:prstGeom>
          <a:noFill/>
          <a:ln/>
        </p:spPr>
        <p:txBody>
          <a:bodyPr wrap="square" rtlCol="0" anchor="ctr"/>
          <a:lstStyle/>
          <a:p>
            <a:pPr marL="0" indent="0" algn="ctr">
              <a:buNone/>
            </a:pPr>
            <a:r>
              <a:rPr lang="en-US" sz="1100" b="1" dirty="0">
                <a:solidFill>
                  <a:srgbClr val="F8FAFC"/>
                </a:solidFill>
                <a:latin typeface="Arial" pitchFamily="34" charset="0"/>
                <a:ea typeface="Arial" pitchFamily="34" charset="-122"/>
                <a:cs typeface="Arial" pitchFamily="34" charset="-120"/>
              </a:rPr>
              <a:t>4</a:t>
            </a:r>
            <a:endParaRPr lang="en-US" sz="1100" dirty="0"/>
          </a:p>
        </p:txBody>
      </p:sp>
      <p:sp>
        <p:nvSpPr>
          <p:cNvPr id="25" name="Shape 23"/>
          <p:cNvSpPr/>
          <p:nvPr/>
        </p:nvSpPr>
        <p:spPr>
          <a:xfrm>
            <a:off x="6309360" y="1965960"/>
            <a:ext cx="1874520" cy="3063240"/>
          </a:xfrm>
          <a:prstGeom prst="roundRect">
            <a:avLst>
              <a:gd name="adj" fmla="val 4878"/>
            </a:avLst>
          </a:prstGeom>
          <a:solidFill>
            <a:srgbClr val="151C2E"/>
          </a:solidFill>
          <a:ln w="12700">
            <a:solidFill>
              <a:srgbClr val="7C3AED"/>
            </a:solidFill>
            <a:prstDash val="solid"/>
          </a:ln>
        </p:spPr>
        <p:txBody>
          <a:bodyPr/>
          <a:lstStyle/>
          <a:p>
            <a:endParaRPr lang="en-IN"/>
          </a:p>
        </p:txBody>
      </p:sp>
      <p:sp>
        <p:nvSpPr>
          <p:cNvPr id="26" name="Text 24"/>
          <p:cNvSpPr/>
          <p:nvPr/>
        </p:nvSpPr>
        <p:spPr>
          <a:xfrm>
            <a:off x="6400800" y="2148840"/>
            <a:ext cx="1691640" cy="77724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Release Readiness</a:t>
            </a:r>
            <a:endParaRPr lang="en-US" sz="1300" dirty="0"/>
          </a:p>
          <a:p>
            <a:pPr marL="0" indent="0" algn="ctr">
              <a:buNone/>
            </a:pPr>
            <a:r>
              <a:rPr lang="en-US" sz="1300" b="1" dirty="0">
                <a:solidFill>
                  <a:srgbClr val="F8FAFC"/>
                </a:solidFill>
                <a:latin typeface="Arial" pitchFamily="34" charset="0"/>
                <a:ea typeface="Arial" pitchFamily="34" charset="-122"/>
                <a:cs typeface="Arial" pitchFamily="34" charset="-120"/>
              </a:rPr>
              <a:t>Dashboard</a:t>
            </a:r>
            <a:endParaRPr lang="en-US" sz="1300" dirty="0"/>
          </a:p>
        </p:txBody>
      </p:sp>
      <p:sp>
        <p:nvSpPr>
          <p:cNvPr id="27" name="Text 25"/>
          <p:cNvSpPr/>
          <p:nvPr/>
        </p:nvSpPr>
        <p:spPr>
          <a:xfrm>
            <a:off x="6419088" y="3063240"/>
            <a:ext cx="1645920" cy="173736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Risk, coverage, automation readiness, and open QA gaps.</a:t>
            </a:r>
            <a:endParaRPr lang="en-US" sz="1200" dirty="0"/>
          </a:p>
        </p:txBody>
      </p:sp>
      <p:sp>
        <p:nvSpPr>
          <p:cNvPr id="28" name="Shape 26"/>
          <p:cNvSpPr/>
          <p:nvPr/>
        </p:nvSpPr>
        <p:spPr>
          <a:xfrm>
            <a:off x="8961120" y="1481328"/>
            <a:ext cx="274320" cy="274320"/>
          </a:xfrm>
          <a:prstGeom prst="ellipse">
            <a:avLst/>
          </a:prstGeom>
          <a:solidFill>
            <a:srgbClr val="06B6D4"/>
          </a:solidFill>
          <a:ln w="25400">
            <a:solidFill>
              <a:srgbClr val="080B12"/>
            </a:solidFill>
            <a:prstDash val="solid"/>
          </a:ln>
        </p:spPr>
        <p:txBody>
          <a:bodyPr/>
          <a:lstStyle/>
          <a:p>
            <a:endParaRPr lang="en-IN"/>
          </a:p>
        </p:txBody>
      </p:sp>
      <p:sp>
        <p:nvSpPr>
          <p:cNvPr id="29" name="Text 27"/>
          <p:cNvSpPr/>
          <p:nvPr/>
        </p:nvSpPr>
        <p:spPr>
          <a:xfrm>
            <a:off x="8961120" y="1481328"/>
            <a:ext cx="274320" cy="274320"/>
          </a:xfrm>
          <a:prstGeom prst="rect">
            <a:avLst/>
          </a:prstGeom>
          <a:noFill/>
          <a:ln/>
        </p:spPr>
        <p:txBody>
          <a:bodyPr wrap="square" rtlCol="0" anchor="ctr"/>
          <a:lstStyle/>
          <a:p>
            <a:pPr marL="0" indent="0" algn="ctr">
              <a:buNone/>
            </a:pPr>
            <a:r>
              <a:rPr lang="en-US" sz="1100" b="1" dirty="0">
                <a:solidFill>
                  <a:srgbClr val="F8FAFC"/>
                </a:solidFill>
                <a:latin typeface="Arial" pitchFamily="34" charset="0"/>
                <a:ea typeface="Arial" pitchFamily="34" charset="-122"/>
                <a:cs typeface="Arial" pitchFamily="34" charset="-120"/>
              </a:rPr>
              <a:t>5</a:t>
            </a:r>
            <a:endParaRPr lang="en-US" sz="1100" dirty="0"/>
          </a:p>
        </p:txBody>
      </p:sp>
      <p:sp>
        <p:nvSpPr>
          <p:cNvPr id="30" name="Shape 28"/>
          <p:cNvSpPr/>
          <p:nvPr/>
        </p:nvSpPr>
        <p:spPr>
          <a:xfrm>
            <a:off x="8275320" y="1965960"/>
            <a:ext cx="1874520" cy="3063240"/>
          </a:xfrm>
          <a:prstGeom prst="roundRect">
            <a:avLst>
              <a:gd name="adj" fmla="val 4878"/>
            </a:avLst>
          </a:prstGeom>
          <a:solidFill>
            <a:srgbClr val="151C2E"/>
          </a:solidFill>
          <a:ln w="12700">
            <a:solidFill>
              <a:srgbClr val="06B6D4"/>
            </a:solidFill>
            <a:prstDash val="solid"/>
          </a:ln>
        </p:spPr>
        <p:txBody>
          <a:bodyPr/>
          <a:lstStyle/>
          <a:p>
            <a:endParaRPr lang="en-IN"/>
          </a:p>
        </p:txBody>
      </p:sp>
      <p:sp>
        <p:nvSpPr>
          <p:cNvPr id="31" name="Text 29"/>
          <p:cNvSpPr/>
          <p:nvPr/>
        </p:nvSpPr>
        <p:spPr>
          <a:xfrm>
            <a:off x="8366760" y="2148840"/>
            <a:ext cx="1691640" cy="77724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Continuous QA</a:t>
            </a:r>
            <a:endParaRPr lang="en-US" sz="1300" dirty="0"/>
          </a:p>
          <a:p>
            <a:pPr marL="0" indent="0" algn="ctr">
              <a:buNone/>
            </a:pPr>
            <a:r>
              <a:rPr lang="en-US" sz="1300" b="1" dirty="0">
                <a:solidFill>
                  <a:srgbClr val="F8FAFC"/>
                </a:solidFill>
                <a:latin typeface="Arial" pitchFamily="34" charset="0"/>
                <a:ea typeface="Arial" pitchFamily="34" charset="-122"/>
                <a:cs typeface="Arial" pitchFamily="34" charset="-120"/>
              </a:rPr>
              <a:t>Monitoring</a:t>
            </a:r>
            <a:endParaRPr lang="en-US" sz="1300" dirty="0"/>
          </a:p>
        </p:txBody>
      </p:sp>
      <p:sp>
        <p:nvSpPr>
          <p:cNvPr id="32" name="Text 30"/>
          <p:cNvSpPr/>
          <p:nvPr/>
        </p:nvSpPr>
        <p:spPr>
          <a:xfrm>
            <a:off x="8385048" y="3063240"/>
            <a:ext cx="1645920" cy="173736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Re-run analysis when requirements, tickets, or flows change.</a:t>
            </a:r>
            <a:endParaRPr lang="en-US" sz="1200" dirty="0"/>
          </a:p>
        </p:txBody>
      </p:sp>
      <p:sp>
        <p:nvSpPr>
          <p:cNvPr id="33" name="Shape 31"/>
          <p:cNvSpPr/>
          <p:nvPr/>
        </p:nvSpPr>
        <p:spPr>
          <a:xfrm>
            <a:off x="10927080" y="1481328"/>
            <a:ext cx="274320" cy="274320"/>
          </a:xfrm>
          <a:prstGeom prst="ellipse">
            <a:avLst/>
          </a:prstGeom>
          <a:solidFill>
            <a:srgbClr val="22C55E"/>
          </a:solidFill>
          <a:ln w="25400">
            <a:solidFill>
              <a:srgbClr val="080B12"/>
            </a:solidFill>
            <a:prstDash val="solid"/>
          </a:ln>
        </p:spPr>
        <p:txBody>
          <a:bodyPr/>
          <a:lstStyle/>
          <a:p>
            <a:endParaRPr lang="en-IN"/>
          </a:p>
        </p:txBody>
      </p:sp>
      <p:sp>
        <p:nvSpPr>
          <p:cNvPr id="34" name="Text 32"/>
          <p:cNvSpPr/>
          <p:nvPr/>
        </p:nvSpPr>
        <p:spPr>
          <a:xfrm>
            <a:off x="10927080" y="1481328"/>
            <a:ext cx="274320" cy="274320"/>
          </a:xfrm>
          <a:prstGeom prst="rect">
            <a:avLst/>
          </a:prstGeom>
          <a:noFill/>
          <a:ln/>
        </p:spPr>
        <p:txBody>
          <a:bodyPr wrap="square" rtlCol="0" anchor="ctr"/>
          <a:lstStyle/>
          <a:p>
            <a:pPr marL="0" indent="0" algn="ctr">
              <a:buNone/>
            </a:pPr>
            <a:r>
              <a:rPr lang="en-US" sz="1100" b="1" dirty="0">
                <a:solidFill>
                  <a:srgbClr val="F8FAFC"/>
                </a:solidFill>
                <a:latin typeface="Arial" pitchFamily="34" charset="0"/>
                <a:ea typeface="Arial" pitchFamily="34" charset="-122"/>
                <a:cs typeface="Arial" pitchFamily="34" charset="-120"/>
              </a:rPr>
              <a:t>6</a:t>
            </a:r>
            <a:endParaRPr lang="en-US" sz="1100" dirty="0"/>
          </a:p>
        </p:txBody>
      </p:sp>
      <p:sp>
        <p:nvSpPr>
          <p:cNvPr id="35" name="Shape 33"/>
          <p:cNvSpPr/>
          <p:nvPr/>
        </p:nvSpPr>
        <p:spPr>
          <a:xfrm>
            <a:off x="10241280" y="1965960"/>
            <a:ext cx="1874520" cy="3063240"/>
          </a:xfrm>
          <a:prstGeom prst="roundRect">
            <a:avLst>
              <a:gd name="adj" fmla="val 4878"/>
            </a:avLst>
          </a:prstGeom>
          <a:solidFill>
            <a:srgbClr val="151C2E"/>
          </a:solidFill>
          <a:ln w="12700">
            <a:solidFill>
              <a:srgbClr val="22C55E"/>
            </a:solidFill>
            <a:prstDash val="solid"/>
          </a:ln>
        </p:spPr>
        <p:txBody>
          <a:bodyPr/>
          <a:lstStyle/>
          <a:p>
            <a:endParaRPr lang="en-IN"/>
          </a:p>
        </p:txBody>
      </p:sp>
      <p:sp>
        <p:nvSpPr>
          <p:cNvPr id="36" name="Text 34"/>
          <p:cNvSpPr/>
          <p:nvPr/>
        </p:nvSpPr>
        <p:spPr>
          <a:xfrm>
            <a:off x="10332720" y="2148840"/>
            <a:ext cx="1691640" cy="77724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Enterprise</a:t>
            </a:r>
            <a:endParaRPr lang="en-US" sz="1300" dirty="0"/>
          </a:p>
          <a:p>
            <a:pPr marL="0" indent="0" algn="ctr">
              <a:buNone/>
            </a:pPr>
            <a:r>
              <a:rPr lang="en-US" sz="1300" b="1" dirty="0">
                <a:solidFill>
                  <a:srgbClr val="F8FAFC"/>
                </a:solidFill>
                <a:latin typeface="Arial" pitchFamily="34" charset="0"/>
                <a:ea typeface="Arial" pitchFamily="34" charset="-122"/>
                <a:cs typeface="Arial" pitchFamily="34" charset="-120"/>
              </a:rPr>
              <a:t>Governance</a:t>
            </a:r>
            <a:endParaRPr lang="en-US" sz="1300" dirty="0"/>
          </a:p>
        </p:txBody>
      </p:sp>
      <p:sp>
        <p:nvSpPr>
          <p:cNvPr id="37" name="Text 35"/>
          <p:cNvSpPr/>
          <p:nvPr/>
        </p:nvSpPr>
        <p:spPr>
          <a:xfrm>
            <a:off x="10351008" y="3063240"/>
            <a:ext cx="1645920" cy="173736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RBAC, audit logs, approval workflows, reusable QA templates.</a:t>
            </a:r>
            <a:endParaRPr lang="en-US" sz="1200" dirty="0"/>
          </a:p>
        </p:txBody>
      </p:sp>
      <p:pic>
        <p:nvPicPr>
          <p:cNvPr id="38" name="Image 0" descr="D:\Projects\QA Copilot - Testathon\presentation\assets\slide5_roadmap.png"/>
          <p:cNvPicPr>
            <a:picLocks noChangeAspect="1"/>
          </p:cNvPicPr>
          <p:nvPr/>
        </p:nvPicPr>
        <p:blipFill>
          <a:blip r:embed="rId3"/>
          <a:stretch>
            <a:fillRect/>
          </a:stretch>
        </p:blipFill>
        <p:spPr>
          <a:xfrm>
            <a:off x="411480" y="5212080"/>
            <a:ext cx="11338560" cy="1051560"/>
          </a:xfrm>
          <a:prstGeom prst="rect">
            <a:avLst/>
          </a:prstGeom>
        </p:spPr>
      </p:pic>
      <p:sp>
        <p:nvSpPr>
          <p:cNvPr id="39" name="Text 36"/>
          <p:cNvSpPr/>
          <p:nvPr/>
        </p:nvSpPr>
        <p:spPr>
          <a:xfrm>
            <a:off x="10607040" y="6473952"/>
            <a:ext cx="1280160" cy="256032"/>
          </a:xfrm>
          <a:prstGeom prst="rect">
            <a:avLst/>
          </a:prstGeom>
          <a:noFill/>
          <a:ln/>
        </p:spPr>
        <p:txBody>
          <a:bodyPr wrap="square" rtlCol="0" anchor="ctr"/>
          <a:lstStyle/>
          <a:p>
            <a:pPr marL="0" indent="0" algn="r">
              <a:buNone/>
            </a:pPr>
            <a:r>
              <a:rPr lang="en-US" sz="1100" dirty="0">
                <a:solidFill>
                  <a:srgbClr val="64748B"/>
                </a:solidFill>
                <a:latin typeface="Arial" pitchFamily="34" charset="0"/>
                <a:ea typeface="Arial" pitchFamily="34" charset="-122"/>
                <a:cs typeface="Arial" pitchFamily="34" charset="-120"/>
              </a:rPr>
              <a:t>5  /  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952</Words>
  <Application>Microsoft Office PowerPoint</Application>
  <PresentationFormat>Widescreen</PresentationFormat>
  <Paragraphs>155</Paragraphs>
  <Slides>7</Slides>
  <Notes>7</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Viraj Dhruve</cp:lastModifiedBy>
  <cp:revision>6</cp:revision>
  <dcterms:created xsi:type="dcterms:W3CDTF">2013-01-27T09:14:16Z</dcterms:created>
  <dcterms:modified xsi:type="dcterms:W3CDTF">2026-08-06T10:34:25Z</dcterms:modified>
  <cp:category/>
</cp:coreProperties>
</file>